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2623"/>
          </a:solidFill>
          <a:ln/>
        </p:spPr>
      </p:sp>
      <p:sp>
        <p:nvSpPr>
          <p:cNvPr id="3" name="Shape 1"/>
          <p:cNvSpPr/>
          <p:nvPr/>
        </p:nvSpPr>
        <p:spPr>
          <a:xfrm>
            <a:off x="548640" y="1371600"/>
            <a:ext cx="2743200" cy="54864"/>
          </a:xfrm>
          <a:prstGeom prst="rect">
            <a:avLst/>
          </a:prstGeom>
          <a:solidFill>
            <a:srgbClr val="E8DE9F"/>
          </a:solidFill>
          <a:ln/>
        </p:spPr>
      </p:sp>
      <p:sp>
        <p:nvSpPr>
          <p:cNvPr id="4" name="Text 2"/>
          <p:cNvSpPr/>
          <p:nvPr/>
        </p:nvSpPr>
        <p:spPr>
          <a:xfrm>
            <a:off x="548640" y="1554480"/>
            <a:ext cx="8046720" cy="1371600"/>
          </a:xfrm>
          <a:prstGeom prst="rect">
            <a:avLst/>
          </a:prstGeom>
          <a:noFill/>
          <a:ln/>
        </p:spPr>
        <p:txBody>
          <a:bodyPr wrap="square" rtlCol="0" anchor="t"/>
          <a:lstStyle/>
          <a:p>
            <a:pPr indent="0" marL="0">
              <a:buNone/>
            </a:pPr>
            <a:r>
              <a:rPr lang="en-US" sz="4000" b="1" dirty="0">
                <a:solidFill>
                  <a:srgbClr val="FFFFFF"/>
                </a:solidFill>
                <a:latin typeface="Noto Sans JP" pitchFamily="34" charset="0"/>
                <a:ea typeface="Noto Sans JP" pitchFamily="34" charset="-122"/>
                <a:cs typeface="Noto Sans JP" pitchFamily="34" charset="-120"/>
              </a:rPr>
              <a:t>半島振興法の改正</a:t>
            </a:r>
            <a:endParaRPr lang="en-US" sz="4000" dirty="0"/>
          </a:p>
        </p:txBody>
      </p:sp>
      <p:sp>
        <p:nvSpPr>
          <p:cNvPr id="5" name="Text 3"/>
          <p:cNvSpPr/>
          <p:nvPr/>
        </p:nvSpPr>
        <p:spPr>
          <a:xfrm>
            <a:off x="548640" y="2926080"/>
            <a:ext cx="8046720" cy="548640"/>
          </a:xfrm>
          <a:prstGeom prst="rect">
            <a:avLst/>
          </a:prstGeom>
          <a:noFill/>
          <a:ln/>
        </p:spPr>
        <p:txBody>
          <a:bodyPr wrap="square" rtlCol="0" anchor="t"/>
          <a:lstStyle/>
          <a:p>
            <a:pPr indent="0" marL="0">
              <a:buNone/>
            </a:pPr>
            <a:r>
              <a:rPr lang="en-US" sz="2000" dirty="0">
                <a:solidFill>
                  <a:srgbClr val="E8DE9F"/>
                </a:solidFill>
                <a:latin typeface="Noto Sans JP" pitchFamily="34" charset="0"/>
                <a:ea typeface="Noto Sans JP" pitchFamily="34" charset="-122"/>
                <a:cs typeface="Noto Sans JP" pitchFamily="34" charset="-120"/>
              </a:rPr>
              <a:t>能登半島地震の教訓を生かした防災・地方創生の新展開</a:t>
            </a:r>
            <a:endParaRPr lang="en-US" sz="2000" dirty="0"/>
          </a:p>
        </p:txBody>
      </p:sp>
      <p:sp>
        <p:nvSpPr>
          <p:cNvPr id="6" name="Text 4"/>
          <p:cNvSpPr/>
          <p:nvPr/>
        </p:nvSpPr>
        <p:spPr>
          <a:xfrm>
            <a:off x="548640" y="4114800"/>
            <a:ext cx="8046720" cy="457200"/>
          </a:xfrm>
          <a:prstGeom prst="rect">
            <a:avLst/>
          </a:prstGeom>
          <a:noFill/>
          <a:ln/>
        </p:spPr>
        <p:txBody>
          <a:bodyPr wrap="square" rtlCol="0" anchor="b"/>
          <a:lstStyle/>
          <a:p>
            <a:pPr indent="0" marL="0">
              <a:buNone/>
            </a:pPr>
            <a:r>
              <a:rPr lang="en-US" sz="1600" dirty="0">
                <a:solidFill>
                  <a:srgbClr val="FFFFFF"/>
                </a:solidFill>
                <a:latin typeface="Noto Sans JP" pitchFamily="34" charset="0"/>
                <a:ea typeface="Noto Sans JP" pitchFamily="34" charset="-122"/>
                <a:cs typeface="Noto Sans JP" pitchFamily="34" charset="-120"/>
              </a:rPr>
              <a:t>2025年3月 改正法成立</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2623"/>
          </a:solidFill>
          <a:ln/>
        </p:spPr>
      </p:sp>
      <p:sp>
        <p:nvSpPr>
          <p:cNvPr id="3" name="Text 1"/>
          <p:cNvSpPr/>
          <p:nvPr/>
        </p:nvSpPr>
        <p:spPr>
          <a:xfrm>
            <a:off x="548640" y="0"/>
            <a:ext cx="8046720" cy="731520"/>
          </a:xfrm>
          <a:prstGeom prst="rect">
            <a:avLst/>
          </a:prstGeom>
          <a:noFill/>
          <a:ln/>
        </p:spPr>
        <p:txBody>
          <a:bodyPr wrap="square" rtlCol="0" anchor="ctr"/>
          <a:lstStyle/>
          <a:p>
            <a:pPr indent="0" marL="0">
              <a:buNone/>
            </a:pPr>
            <a:r>
              <a:rPr lang="en-US" sz="2400" b="1" dirty="0">
                <a:solidFill>
                  <a:srgbClr val="FFFFFF"/>
                </a:solidFill>
                <a:latin typeface="Noto Sans JP" pitchFamily="34" charset="0"/>
                <a:ea typeface="Noto Sans JP" pitchFamily="34" charset="-122"/>
                <a:cs typeface="Noto Sans JP" pitchFamily="34" charset="-120"/>
              </a:rPr>
              <a:t>SUMMARY</a:t>
            </a:r>
            <a:endParaRPr lang="en-US" sz="2400" dirty="0"/>
          </a:p>
        </p:txBody>
      </p:sp>
      <p:sp>
        <p:nvSpPr>
          <p:cNvPr id="4" name="Shape 2"/>
          <p:cNvSpPr/>
          <p:nvPr/>
        </p:nvSpPr>
        <p:spPr>
          <a:xfrm>
            <a:off x="548640" y="1097280"/>
            <a:ext cx="8046720" cy="914400"/>
          </a:xfrm>
          <a:prstGeom prst="rect">
            <a:avLst>
              <a:gd name="adj" fmla="val 10000"/>
            </a:avLst>
          </a:prstGeom>
          <a:solidFill>
            <a:srgbClr val="0D2623"/>
          </a:solidFill>
          <a:ln/>
        </p:spPr>
      </p:sp>
      <p:sp>
        <p:nvSpPr>
          <p:cNvPr id="5" name="Text 3"/>
          <p:cNvSpPr/>
          <p:nvPr/>
        </p:nvSpPr>
        <p:spPr>
          <a:xfrm>
            <a:off x="731520" y="1097280"/>
            <a:ext cx="7680960" cy="914400"/>
          </a:xfrm>
          <a:prstGeom prst="rect">
            <a:avLst/>
          </a:prstGeom>
          <a:noFill/>
          <a:ln/>
        </p:spPr>
        <p:txBody>
          <a:bodyPr wrap="square" rtlCol="0" anchor="ctr"/>
          <a:lstStyle/>
          <a:p>
            <a:pPr indent="0" marL="0">
              <a:buNone/>
            </a:pPr>
            <a:r>
              <a:rPr lang="en-US" sz="2000" b="1" dirty="0">
                <a:solidFill>
                  <a:srgbClr val="FFFFFF"/>
                </a:solidFill>
                <a:latin typeface="Noto Sans JP" pitchFamily="34" charset="0"/>
                <a:ea typeface="Noto Sans JP" pitchFamily="34" charset="-122"/>
                <a:cs typeface="Noto Sans JP" pitchFamily="34" charset="-120"/>
              </a:rPr>
              <a:t>半島振興法は能登半島地震の教訓を踏まえ、「防災強靭化」と「地方創生」を柱に10年延長・大幅改正された</a:t>
            </a:r>
            <a:endParaRPr lang="en-US" sz="2000" dirty="0"/>
          </a:p>
        </p:txBody>
      </p:sp>
      <p:sp>
        <p:nvSpPr>
          <p:cNvPr id="6" name="Shape 4"/>
          <p:cNvSpPr/>
          <p:nvPr/>
        </p:nvSpPr>
        <p:spPr>
          <a:xfrm>
            <a:off x="548640" y="2377440"/>
            <a:ext cx="457200" cy="457200"/>
          </a:xfrm>
          <a:prstGeom prst="rect">
            <a:avLst>
              <a:gd name="adj" fmla="val 10000"/>
            </a:avLst>
          </a:prstGeom>
          <a:solidFill>
            <a:srgbClr val="E8DE9F"/>
          </a:solidFill>
          <a:ln/>
        </p:spPr>
      </p:sp>
      <p:sp>
        <p:nvSpPr>
          <p:cNvPr id="7" name="Text 5"/>
          <p:cNvSpPr/>
          <p:nvPr/>
        </p:nvSpPr>
        <p:spPr>
          <a:xfrm>
            <a:off x="548640" y="2377440"/>
            <a:ext cx="457200" cy="45720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1</a:t>
            </a:r>
            <a:endParaRPr lang="en-US" sz="1800" dirty="0"/>
          </a:p>
        </p:txBody>
      </p:sp>
      <p:sp>
        <p:nvSpPr>
          <p:cNvPr id="8" name="Text 6"/>
          <p:cNvSpPr/>
          <p:nvPr/>
        </p:nvSpPr>
        <p:spPr>
          <a:xfrm>
            <a:off x="1188720" y="2377440"/>
            <a:ext cx="7406640" cy="457200"/>
          </a:xfrm>
          <a:prstGeom prst="rect">
            <a:avLst/>
          </a:prstGeom>
          <a:noFill/>
          <a:ln/>
        </p:spPr>
        <p:txBody>
          <a:bodyPr wrap="square" rtlCol="0" anchor="ctr"/>
          <a:lstStyle/>
          <a:p>
            <a:pPr indent="0" marL="0">
              <a:buNone/>
            </a:pPr>
            <a:r>
              <a:rPr lang="en-US" sz="1600" dirty="0">
                <a:solidFill>
                  <a:srgbClr val="0D2623"/>
                </a:solidFill>
                <a:latin typeface="Noto Sans JP" pitchFamily="34" charset="0"/>
                <a:ea typeface="Noto Sans JP" pitchFamily="34" charset="-122"/>
                <a:cs typeface="Noto Sans JP" pitchFamily="34" charset="-120"/>
              </a:rPr>
              <a:t>能登半島地震で孤立・インフラ寸断など半島地域の脆弱性が顕在化し、防災強化が急務に</a:t>
            </a:r>
            <a:endParaRPr lang="en-US" sz="1600" dirty="0"/>
          </a:p>
        </p:txBody>
      </p:sp>
      <p:sp>
        <p:nvSpPr>
          <p:cNvPr id="9" name="Shape 7"/>
          <p:cNvSpPr/>
          <p:nvPr/>
        </p:nvSpPr>
        <p:spPr>
          <a:xfrm>
            <a:off x="548640" y="3017520"/>
            <a:ext cx="457200" cy="457200"/>
          </a:xfrm>
          <a:prstGeom prst="rect">
            <a:avLst>
              <a:gd name="adj" fmla="val 10000"/>
            </a:avLst>
          </a:prstGeom>
          <a:solidFill>
            <a:srgbClr val="E8DE9F"/>
          </a:solidFill>
          <a:ln/>
        </p:spPr>
      </p:sp>
      <p:sp>
        <p:nvSpPr>
          <p:cNvPr id="10" name="Text 8"/>
          <p:cNvSpPr/>
          <p:nvPr/>
        </p:nvSpPr>
        <p:spPr>
          <a:xfrm>
            <a:off x="548640" y="3017520"/>
            <a:ext cx="457200" cy="45720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2</a:t>
            </a:r>
            <a:endParaRPr lang="en-US" sz="1800" dirty="0"/>
          </a:p>
        </p:txBody>
      </p:sp>
      <p:sp>
        <p:nvSpPr>
          <p:cNvPr id="11" name="Text 9"/>
          <p:cNvSpPr/>
          <p:nvPr/>
        </p:nvSpPr>
        <p:spPr>
          <a:xfrm>
            <a:off x="1188720" y="3017520"/>
            <a:ext cx="7406640" cy="457200"/>
          </a:xfrm>
          <a:prstGeom prst="rect">
            <a:avLst/>
          </a:prstGeom>
          <a:noFill/>
          <a:ln/>
        </p:spPr>
        <p:txBody>
          <a:bodyPr wrap="square" rtlCol="0" anchor="ctr"/>
          <a:lstStyle/>
          <a:p>
            <a:pPr indent="0" marL="0">
              <a:buNone/>
            </a:pPr>
            <a:r>
              <a:rPr lang="en-US" sz="1600" dirty="0">
                <a:solidFill>
                  <a:srgbClr val="0D2623"/>
                </a:solidFill>
                <a:latin typeface="Noto Sans JP" pitchFamily="34" charset="0"/>
                <a:ea typeface="Noto Sans JP" pitchFamily="34" charset="-122"/>
                <a:cs typeface="Noto Sans JP" pitchFamily="34" charset="-120"/>
              </a:rPr>
              <a:t>人口減少・高齢化が進む半島地域の持続可能性を確保するため、移住促進・産業振興を法的に位置づけ</a:t>
            </a:r>
            <a:endParaRPr lang="en-US" sz="1600" dirty="0"/>
          </a:p>
        </p:txBody>
      </p:sp>
      <p:sp>
        <p:nvSpPr>
          <p:cNvPr id="12" name="Shape 10"/>
          <p:cNvSpPr/>
          <p:nvPr/>
        </p:nvSpPr>
        <p:spPr>
          <a:xfrm>
            <a:off x="548640" y="3657600"/>
            <a:ext cx="457200" cy="457200"/>
          </a:xfrm>
          <a:prstGeom prst="rect">
            <a:avLst>
              <a:gd name="adj" fmla="val 10000"/>
            </a:avLst>
          </a:prstGeom>
          <a:solidFill>
            <a:srgbClr val="E8DE9F"/>
          </a:solidFill>
          <a:ln/>
        </p:spPr>
      </p:sp>
      <p:sp>
        <p:nvSpPr>
          <p:cNvPr id="13" name="Text 11"/>
          <p:cNvSpPr/>
          <p:nvPr/>
        </p:nvSpPr>
        <p:spPr>
          <a:xfrm>
            <a:off x="548640" y="3657600"/>
            <a:ext cx="457200" cy="45720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3</a:t>
            </a:r>
            <a:endParaRPr lang="en-US" sz="1800" dirty="0"/>
          </a:p>
        </p:txBody>
      </p:sp>
      <p:sp>
        <p:nvSpPr>
          <p:cNvPr id="14" name="Text 12"/>
          <p:cNvSpPr/>
          <p:nvPr/>
        </p:nvSpPr>
        <p:spPr>
          <a:xfrm>
            <a:off x="1188720" y="3657600"/>
            <a:ext cx="7406640" cy="457200"/>
          </a:xfrm>
          <a:prstGeom prst="rect">
            <a:avLst/>
          </a:prstGeom>
          <a:noFill/>
          <a:ln/>
        </p:spPr>
        <p:txBody>
          <a:bodyPr wrap="square" rtlCol="0" anchor="ctr"/>
          <a:lstStyle/>
          <a:p>
            <a:pPr indent="0" marL="0">
              <a:buNone/>
            </a:pPr>
            <a:r>
              <a:rPr lang="en-US" sz="1600" dirty="0">
                <a:solidFill>
                  <a:srgbClr val="0D2623"/>
                </a:solidFill>
                <a:latin typeface="Noto Sans JP" pitchFamily="34" charset="0"/>
                <a:ea typeface="Noto Sans JP" pitchFamily="34" charset="-122"/>
                <a:cs typeface="Noto Sans JP" pitchFamily="34" charset="-120"/>
              </a:rPr>
              <a:t>デジタル技術活用・再生可能エネルギー導入など、時代に即した施策を新たに規定</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2623"/>
          </a:solidFill>
          <a:ln/>
        </p:spPr>
      </p:sp>
      <p:sp>
        <p:nvSpPr>
          <p:cNvPr id="3" name="Text 1"/>
          <p:cNvSpPr/>
          <p:nvPr/>
        </p:nvSpPr>
        <p:spPr>
          <a:xfrm>
            <a:off x="548640" y="731520"/>
            <a:ext cx="3657600" cy="1828800"/>
          </a:xfrm>
          <a:prstGeom prst="rect">
            <a:avLst/>
          </a:prstGeom>
          <a:noFill/>
          <a:ln/>
        </p:spPr>
        <p:txBody>
          <a:bodyPr wrap="square" rtlCol="0" anchor="ctr"/>
          <a:lstStyle/>
          <a:p>
            <a:pPr indent="0" marL="0">
              <a:buNone/>
            </a:pPr>
            <a:r>
              <a:rPr lang="en-US" sz="8000" b="1" dirty="0">
                <a:solidFill>
                  <a:srgbClr val="E8DE9F"/>
                </a:solidFill>
                <a:latin typeface="Noto Sans JP" pitchFamily="34" charset="0"/>
                <a:ea typeface="Noto Sans JP" pitchFamily="34" charset="-122"/>
                <a:cs typeface="Noto Sans JP" pitchFamily="34" charset="-120"/>
              </a:rPr>
              <a:t>01</a:t>
            </a:r>
            <a:endParaRPr lang="en-US" sz="8000" dirty="0"/>
          </a:p>
        </p:txBody>
      </p:sp>
      <p:sp>
        <p:nvSpPr>
          <p:cNvPr id="4" name="Shape 2"/>
          <p:cNvSpPr/>
          <p:nvPr/>
        </p:nvSpPr>
        <p:spPr>
          <a:xfrm>
            <a:off x="548640" y="2651760"/>
            <a:ext cx="1828800" cy="54864"/>
          </a:xfrm>
          <a:prstGeom prst="rect">
            <a:avLst/>
          </a:prstGeom>
          <a:solidFill>
            <a:srgbClr val="E8DE9F"/>
          </a:solidFill>
          <a:ln/>
        </p:spPr>
      </p:sp>
      <p:sp>
        <p:nvSpPr>
          <p:cNvPr id="5" name="Text 3"/>
          <p:cNvSpPr/>
          <p:nvPr/>
        </p:nvSpPr>
        <p:spPr>
          <a:xfrm>
            <a:off x="548640" y="2926080"/>
            <a:ext cx="8046720" cy="914400"/>
          </a:xfrm>
          <a:prstGeom prst="rect">
            <a:avLst/>
          </a:prstGeom>
          <a:noFill/>
          <a:ln/>
        </p:spPr>
        <p:txBody>
          <a:bodyPr wrap="square" rtlCol="0" anchor="t"/>
          <a:lstStyle/>
          <a:p>
            <a:pPr indent="0" marL="0">
              <a:buNone/>
            </a:pPr>
            <a:r>
              <a:rPr lang="en-US" sz="3200" b="1" dirty="0">
                <a:solidFill>
                  <a:srgbClr val="FFFFFF"/>
                </a:solidFill>
                <a:latin typeface="Noto Sans JP" pitchFamily="34" charset="0"/>
                <a:ea typeface="Noto Sans JP" pitchFamily="34" charset="-122"/>
                <a:cs typeface="Noto Sans JP" pitchFamily="34" charset="-120"/>
              </a:rPr>
              <a:t>改正の背景</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0D2623"/>
                </a:solidFill>
                <a:latin typeface="Noto Sans JP" pitchFamily="34" charset="0"/>
                <a:ea typeface="Noto Sans JP" pitchFamily="34" charset="-122"/>
                <a:cs typeface="Noto Sans JP" pitchFamily="34" charset="-120"/>
              </a:rPr>
              <a:t>半島振興法とは何か</a:t>
            </a:r>
            <a:endParaRPr lang="en-US" sz="2400" dirty="0"/>
          </a:p>
        </p:txBody>
      </p:sp>
      <p:sp>
        <p:nvSpPr>
          <p:cNvPr id="3" name="Shape 1"/>
          <p:cNvSpPr/>
          <p:nvPr/>
        </p:nvSpPr>
        <p:spPr>
          <a:xfrm>
            <a:off x="548640" y="731520"/>
            <a:ext cx="1097280" cy="36576"/>
          </a:xfrm>
          <a:prstGeom prst="rect">
            <a:avLst/>
          </a:prstGeom>
          <a:solidFill>
            <a:srgbClr val="FFFF00"/>
          </a:solidFill>
          <a:ln/>
        </p:spPr>
      </p:sp>
      <p:sp>
        <p:nvSpPr>
          <p:cNvPr id="4" name="Shape 2"/>
          <p:cNvSpPr/>
          <p:nvPr/>
        </p:nvSpPr>
        <p:spPr>
          <a:xfrm>
            <a:off x="548640" y="822960"/>
            <a:ext cx="8046720" cy="457200"/>
          </a:xfrm>
          <a:prstGeom prst="rect">
            <a:avLst>
              <a:gd name="adj" fmla="val 10000"/>
            </a:avLst>
          </a:prstGeom>
          <a:solidFill>
            <a:srgbClr val="0D2623"/>
          </a:solidFill>
          <a:ln/>
        </p:spPr>
      </p:sp>
      <p:sp>
        <p:nvSpPr>
          <p:cNvPr id="5" name="Shape 3"/>
          <p:cNvSpPr/>
          <p:nvPr/>
        </p:nvSpPr>
        <p:spPr>
          <a:xfrm>
            <a:off x="548640" y="822960"/>
            <a:ext cx="54864" cy="457200"/>
          </a:xfrm>
          <a:prstGeom prst="rect">
            <a:avLst/>
          </a:prstGeom>
          <a:solidFill>
            <a:srgbClr val="E8DE9F"/>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1985年制定の時限立法が、4度目の延長で過去最大の改正を実施</a:t>
            </a:r>
            <a:endParaRPr lang="en-US" sz="1600" dirty="0"/>
          </a:p>
        </p:txBody>
      </p:sp>
      <p:sp>
        <p:nvSpPr>
          <p:cNvPr id="7" name="Shape 5"/>
          <p:cNvSpPr/>
          <p:nvPr/>
        </p:nvSpPr>
        <p:spPr>
          <a:xfrm>
            <a:off x="548640" y="1463040"/>
            <a:ext cx="3840480" cy="2926080"/>
          </a:xfrm>
          <a:prstGeom prst="rect">
            <a:avLst>
              <a:gd name="adj" fmla="val 3125"/>
            </a:avLst>
          </a:prstGeom>
          <a:solidFill>
            <a:srgbClr val="F3F3F3"/>
          </a:solidFill>
          <a:ln/>
        </p:spPr>
      </p:sp>
      <p:sp>
        <p:nvSpPr>
          <p:cNvPr id="8" name="Shape 6"/>
          <p:cNvSpPr/>
          <p:nvPr/>
        </p:nvSpPr>
        <p:spPr>
          <a:xfrm>
            <a:off x="548640" y="1463040"/>
            <a:ext cx="3840480" cy="457200"/>
          </a:xfrm>
          <a:prstGeom prst="rect">
            <a:avLst>
              <a:gd name="adj" fmla="val 20000"/>
            </a:avLst>
          </a:prstGeom>
          <a:solidFill>
            <a:srgbClr val="0D2623"/>
          </a:solidFill>
          <a:ln/>
        </p:spPr>
      </p:sp>
      <p:sp>
        <p:nvSpPr>
          <p:cNvPr id="9" name="Text 7"/>
          <p:cNvSpPr/>
          <p:nvPr/>
        </p:nvSpPr>
        <p:spPr>
          <a:xfrm>
            <a:off x="548640" y="1463040"/>
            <a:ext cx="3840480" cy="45720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法律の概要</a:t>
            </a:r>
            <a:endParaRPr lang="en-US" sz="1600" dirty="0"/>
          </a:p>
        </p:txBody>
      </p:sp>
      <p:sp>
        <p:nvSpPr>
          <p:cNvPr id="10" name="Text 8"/>
          <p:cNvSpPr/>
          <p:nvPr/>
        </p:nvSpPr>
        <p:spPr>
          <a:xfrm>
            <a:off x="731520" y="2011680"/>
            <a:ext cx="3474720" cy="2286000"/>
          </a:xfrm>
          <a:prstGeom prst="rect">
            <a:avLst/>
          </a:prstGeom>
          <a:noFill/>
          <a:ln/>
        </p:spPr>
        <p:txBody>
          <a:bodyPr wrap="square" rtlCol="0" anchor="t"/>
          <a:lstStyle/>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・昭和60年（1985年）に議員立法で成立</a:t>
            </a:r>
            <a:endParaRPr lang="en-US" sz="1600" dirty="0"/>
          </a:p>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・三方を海に囲まれた半島地域の振興が目的</a:t>
            </a:r>
            <a:endParaRPr lang="en-US" sz="1600" dirty="0"/>
          </a:p>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・対象: 23地域（22道府県・194市町村）</a:t>
            </a:r>
            <a:endParaRPr lang="en-US" sz="1600" dirty="0"/>
          </a:p>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・国土面積の約11%を占める広範な地域</a:t>
            </a:r>
            <a:endParaRPr lang="en-US" sz="1600" dirty="0"/>
          </a:p>
        </p:txBody>
      </p:sp>
      <p:sp>
        <p:nvSpPr>
          <p:cNvPr id="11" name="Shape 9"/>
          <p:cNvSpPr/>
          <p:nvPr/>
        </p:nvSpPr>
        <p:spPr>
          <a:xfrm>
            <a:off x="4754880" y="1463040"/>
            <a:ext cx="3840480" cy="2926080"/>
          </a:xfrm>
          <a:prstGeom prst="rect">
            <a:avLst>
              <a:gd name="adj" fmla="val 3125"/>
            </a:avLst>
          </a:prstGeom>
          <a:solidFill>
            <a:srgbClr val="F3F3F3"/>
          </a:solidFill>
          <a:ln/>
        </p:spPr>
      </p:sp>
      <p:sp>
        <p:nvSpPr>
          <p:cNvPr id="12" name="Shape 10"/>
          <p:cNvSpPr/>
          <p:nvPr/>
        </p:nvSpPr>
        <p:spPr>
          <a:xfrm>
            <a:off x="4754880" y="1463040"/>
            <a:ext cx="3840480" cy="457200"/>
          </a:xfrm>
          <a:prstGeom prst="rect">
            <a:avLst>
              <a:gd name="adj" fmla="val 20000"/>
            </a:avLst>
          </a:prstGeom>
          <a:solidFill>
            <a:srgbClr val="E8DE9F"/>
          </a:solidFill>
          <a:ln/>
        </p:spPr>
      </p:sp>
      <p:sp>
        <p:nvSpPr>
          <p:cNvPr id="13" name="Text 11"/>
          <p:cNvSpPr/>
          <p:nvPr/>
        </p:nvSpPr>
        <p:spPr>
          <a:xfrm>
            <a:off x="4754880" y="1463040"/>
            <a:ext cx="3840480" cy="457200"/>
          </a:xfrm>
          <a:prstGeom prst="rect">
            <a:avLst/>
          </a:prstGeom>
          <a:noFill/>
          <a:ln/>
        </p:spPr>
        <p:txBody>
          <a:bodyPr wrap="square" rtlCol="0" anchor="ctr"/>
          <a:lstStyle/>
          <a:p>
            <a:pPr algn="ctr" indent="0" marL="0">
              <a:buNone/>
            </a:pPr>
            <a:r>
              <a:rPr lang="en-US" sz="1600" b="1" dirty="0">
                <a:solidFill>
                  <a:srgbClr val="0D2623"/>
                </a:solidFill>
                <a:latin typeface="Noto Sans JP" pitchFamily="34" charset="0"/>
                <a:ea typeface="Noto Sans JP" pitchFamily="34" charset="-122"/>
                <a:cs typeface="Noto Sans JP" pitchFamily="34" charset="-120"/>
              </a:rPr>
              <a:t>改正の経緯</a:t>
            </a:r>
            <a:endParaRPr lang="en-US" sz="1600" dirty="0"/>
          </a:p>
        </p:txBody>
      </p:sp>
      <p:sp>
        <p:nvSpPr>
          <p:cNvPr id="14" name="Text 12"/>
          <p:cNvSpPr/>
          <p:nvPr/>
        </p:nvSpPr>
        <p:spPr>
          <a:xfrm>
            <a:off x="4937760" y="2011680"/>
            <a:ext cx="3474720" cy="2286000"/>
          </a:xfrm>
          <a:prstGeom prst="rect">
            <a:avLst/>
          </a:prstGeom>
          <a:noFill/>
          <a:ln/>
        </p:spPr>
        <p:txBody>
          <a:bodyPr wrap="square" rtlCol="0" anchor="t"/>
          <a:lstStyle/>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・10年ごとの時限立法（今回で4度目の延長）</a:t>
            </a:r>
            <a:endParaRPr lang="en-US" sz="1600" dirty="0"/>
          </a:p>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・2024年1月 能登半島地震が発生</a:t>
            </a:r>
            <a:endParaRPr lang="en-US" sz="1600" dirty="0"/>
          </a:p>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・孤立集落・インフラ寸断の課題が顕在化</a:t>
            </a:r>
            <a:endParaRPr lang="en-US" sz="1600" dirty="0"/>
          </a:p>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・超党派の協議を経て2025年3月に改正法成立</a:t>
            </a:r>
            <a:endParaRPr lang="en-US" sz="1600" dirty="0"/>
          </a:p>
        </p:txBody>
      </p:sp>
      <p:sp>
        <p:nvSpPr>
          <p:cNvPr id="15" name="Text 13"/>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595959"/>
                </a:solidFill>
                <a:latin typeface="Noto Sans JP" pitchFamily="34" charset="0"/>
                <a:ea typeface="Noto Sans JP" pitchFamily="34" charset="-122"/>
                <a:cs typeface="Noto Sans JP" pitchFamily="34" charset="-120"/>
              </a:rPr>
              <a:t>出所: 国土交通省「半島振興」、衆議院法案情報</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2623"/>
          </a:solidFill>
          <a:ln/>
        </p:spPr>
      </p:sp>
      <p:sp>
        <p:nvSpPr>
          <p:cNvPr id="3" name="Text 1"/>
          <p:cNvSpPr/>
          <p:nvPr/>
        </p:nvSpPr>
        <p:spPr>
          <a:xfrm>
            <a:off x="548640" y="731520"/>
            <a:ext cx="3657600" cy="1828800"/>
          </a:xfrm>
          <a:prstGeom prst="rect">
            <a:avLst/>
          </a:prstGeom>
          <a:noFill/>
          <a:ln/>
        </p:spPr>
        <p:txBody>
          <a:bodyPr wrap="square" rtlCol="0" anchor="ctr"/>
          <a:lstStyle/>
          <a:p>
            <a:pPr indent="0" marL="0">
              <a:buNone/>
            </a:pPr>
            <a:r>
              <a:rPr lang="en-US" sz="8000" b="1" dirty="0">
                <a:solidFill>
                  <a:srgbClr val="E8DE9F"/>
                </a:solidFill>
                <a:latin typeface="Noto Sans JP" pitchFamily="34" charset="0"/>
                <a:ea typeface="Noto Sans JP" pitchFamily="34" charset="-122"/>
                <a:cs typeface="Noto Sans JP" pitchFamily="34" charset="-120"/>
              </a:rPr>
              <a:t>02</a:t>
            </a:r>
            <a:endParaRPr lang="en-US" sz="8000" dirty="0"/>
          </a:p>
        </p:txBody>
      </p:sp>
      <p:sp>
        <p:nvSpPr>
          <p:cNvPr id="4" name="Shape 2"/>
          <p:cNvSpPr/>
          <p:nvPr/>
        </p:nvSpPr>
        <p:spPr>
          <a:xfrm>
            <a:off x="548640" y="2651760"/>
            <a:ext cx="1828800" cy="54864"/>
          </a:xfrm>
          <a:prstGeom prst="rect">
            <a:avLst/>
          </a:prstGeom>
          <a:solidFill>
            <a:srgbClr val="E8DE9F"/>
          </a:solidFill>
          <a:ln/>
        </p:spPr>
      </p:sp>
      <p:sp>
        <p:nvSpPr>
          <p:cNvPr id="5" name="Text 3"/>
          <p:cNvSpPr/>
          <p:nvPr/>
        </p:nvSpPr>
        <p:spPr>
          <a:xfrm>
            <a:off x="548640" y="2926080"/>
            <a:ext cx="8046720" cy="914400"/>
          </a:xfrm>
          <a:prstGeom prst="rect">
            <a:avLst/>
          </a:prstGeom>
          <a:noFill/>
          <a:ln/>
        </p:spPr>
        <p:txBody>
          <a:bodyPr wrap="square" rtlCol="0" anchor="t"/>
          <a:lstStyle/>
          <a:p>
            <a:pPr indent="0" marL="0">
              <a:buNone/>
            </a:pPr>
            <a:r>
              <a:rPr lang="en-US" sz="3200" b="1" dirty="0">
                <a:solidFill>
                  <a:srgbClr val="FFFFFF"/>
                </a:solidFill>
                <a:latin typeface="Noto Sans JP" pitchFamily="34" charset="0"/>
                <a:ea typeface="Noto Sans JP" pitchFamily="34" charset="-122"/>
                <a:cs typeface="Noto Sans JP" pitchFamily="34" charset="-120"/>
              </a:rPr>
              <a:t>改正の主なポイント</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0D2623"/>
                </a:solidFill>
                <a:latin typeface="Noto Sans JP" pitchFamily="34" charset="0"/>
                <a:ea typeface="Noto Sans JP" pitchFamily="34" charset="-122"/>
                <a:cs typeface="Noto Sans JP" pitchFamily="34" charset="-120"/>
              </a:rPr>
              <a:t>改正は「法的枠組み」「計画体制」「産業・生活」「防災」の4領域にわたる</a:t>
            </a:r>
            <a:endParaRPr lang="en-US" sz="2400" dirty="0"/>
          </a:p>
        </p:txBody>
      </p:sp>
      <p:sp>
        <p:nvSpPr>
          <p:cNvPr id="3" name="Shape 1"/>
          <p:cNvSpPr/>
          <p:nvPr/>
        </p:nvSpPr>
        <p:spPr>
          <a:xfrm>
            <a:off x="548640" y="731520"/>
            <a:ext cx="1097280" cy="36576"/>
          </a:xfrm>
          <a:prstGeom prst="rect">
            <a:avLst/>
          </a:prstGeom>
          <a:solidFill>
            <a:srgbClr val="FFFF00"/>
          </a:solidFill>
          <a:ln/>
        </p:spPr>
      </p:sp>
      <p:sp>
        <p:nvSpPr>
          <p:cNvPr id="4" name="Shape 2"/>
          <p:cNvSpPr/>
          <p:nvPr/>
        </p:nvSpPr>
        <p:spPr>
          <a:xfrm>
            <a:off x="548640" y="822960"/>
            <a:ext cx="8046720" cy="457200"/>
          </a:xfrm>
          <a:prstGeom prst="rect">
            <a:avLst>
              <a:gd name="adj" fmla="val 10000"/>
            </a:avLst>
          </a:prstGeom>
          <a:solidFill>
            <a:srgbClr val="0D2623"/>
          </a:solidFill>
          <a:ln/>
        </p:spPr>
      </p:sp>
      <p:sp>
        <p:nvSpPr>
          <p:cNvPr id="5" name="Shape 3"/>
          <p:cNvSpPr/>
          <p:nvPr/>
        </p:nvSpPr>
        <p:spPr>
          <a:xfrm>
            <a:off x="548640" y="822960"/>
            <a:ext cx="54864" cy="457200"/>
          </a:xfrm>
          <a:prstGeom prst="rect">
            <a:avLst/>
          </a:prstGeom>
          <a:solidFill>
            <a:srgbClr val="E8DE9F"/>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10の改正ポイントが4つの領域で体系的に整備された</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8046720" cy="914400"/>
        </p:xfrm>
        <a:graphic>
          <a:graphicData uri="http://schemas.openxmlformats.org/drawingml/2006/table">
            <a:tbl>
              <a:tblPr/>
              <a:tblGrid>
                <a:gridCol w="1828800"/>
                <a:gridCol w="6217920"/>
              </a:tblGrid>
              <a:tr h="411480">
                <a:tc>
                  <a:txBody>
                    <a:bodyP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領域</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2623"/>
                    </a:solidFill>
                  </a:tcPr>
                </a:tc>
                <a:tc>
                  <a:txBody>
                    <a:bodyP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改正ポイント</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2623"/>
                    </a:solidFill>
                  </a:tcPr>
                </a:tc>
              </a:tr>
              <a:tr h="411480">
                <a:tc>
                  <a:txBody>
                    <a:bodyPr/>
                    <a:lstStyle/>
                    <a:p>
                      <a:pPr algn="l" indent="0" marL="0">
                        <a:buNone/>
                      </a:pPr>
                      <a:r>
                        <a:rPr lang="en-US" sz="1200" b="1" dirty="0">
                          <a:solidFill>
                            <a:srgbClr val="0D2623"/>
                          </a:solidFill>
                          <a:latin typeface="Noto Sans JP" pitchFamily="34" charset="0"/>
                          <a:ea typeface="Noto Sans JP" pitchFamily="34" charset="-122"/>
                          <a:cs typeface="Noto Sans JP" pitchFamily="34" charset="-120"/>
                        </a:rPr>
                        <a:t>法的枠組みの強化</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ctr" indent="0" marL="0">
                        <a:buNone/>
                      </a:pPr>
                      <a:r>
                        <a:rPr lang="en-US" sz="1200" dirty="0">
                          <a:solidFill>
                            <a:srgbClr val="0D2623"/>
                          </a:solidFill>
                          <a:latin typeface="Noto Sans JP" pitchFamily="34" charset="0"/>
                          <a:ea typeface="Noto Sans JP" pitchFamily="34" charset="-122"/>
                          <a:cs typeface="Noto Sans JP" pitchFamily="34" charset="-120"/>
                        </a:rPr>
                        <a:t>有効期限の10年延長</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r>
              <a:tr h="411480">
                <a:tc>
                  <a:txBody>
                    <a:bodyPr/>
                    <a:lstStyle/>
                    <a:p>
                      <a:pPr algn="l" indent="0" marL="0">
                        <a:buNone/>
                      </a:pP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2623"/>
                          </a:solidFill>
                          <a:latin typeface="Noto Sans JP" pitchFamily="34" charset="0"/>
                          <a:ea typeface="Noto Sans JP" pitchFamily="34" charset="-122"/>
                          <a:cs typeface="Noto Sans JP" pitchFamily="34" charset="-120"/>
                        </a:rPr>
                        <a:t>目的規定の見直し（防災・地方創生を明記）</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ctr" indent="0" marL="0">
                        <a:buNone/>
                      </a:pPr>
                      <a:r>
                        <a:rPr lang="en-US" sz="1200" dirty="0">
                          <a:solidFill>
                            <a:srgbClr val="0D2623"/>
                          </a:solidFill>
                          <a:latin typeface="Noto Sans JP" pitchFamily="34" charset="0"/>
                          <a:ea typeface="Noto Sans JP" pitchFamily="34" charset="-122"/>
                          <a:cs typeface="Noto Sans JP" pitchFamily="34" charset="-120"/>
                        </a:rPr>
                        <a:t>基本理念の新設</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r>
              <a:tr h="411480">
                <a:tc>
                  <a:txBody>
                    <a:bodyPr/>
                    <a:lstStyle/>
                    <a:p>
                      <a:pPr algn="l" indent="0" marL="0">
                        <a:buNone/>
                      </a:pP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2623"/>
                          </a:solidFill>
                          <a:latin typeface="Noto Sans JP" pitchFamily="34" charset="0"/>
                          <a:ea typeface="Noto Sans JP" pitchFamily="34" charset="-122"/>
                          <a:cs typeface="Noto Sans JP" pitchFamily="34" charset="-120"/>
                        </a:rPr>
                        <a:t>国・都道府県の責務の明確化</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200" b="1" dirty="0">
                          <a:solidFill>
                            <a:srgbClr val="0D2623"/>
                          </a:solidFill>
                          <a:latin typeface="Noto Sans JP" pitchFamily="34" charset="0"/>
                          <a:ea typeface="Noto Sans JP" pitchFamily="34" charset="-122"/>
                          <a:cs typeface="Noto Sans JP" pitchFamily="34" charset="-120"/>
                        </a:rPr>
                        <a:t>計画・推進体制</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ctr" indent="0" marL="0">
                        <a:buNone/>
                      </a:pPr>
                      <a:r>
                        <a:rPr lang="en-US" sz="1200" dirty="0">
                          <a:solidFill>
                            <a:srgbClr val="0D2623"/>
                          </a:solidFill>
                          <a:latin typeface="Noto Sans JP" pitchFamily="34" charset="0"/>
                          <a:ea typeface="Noto Sans JP" pitchFamily="34" charset="-122"/>
                          <a:cs typeface="Noto Sans JP" pitchFamily="34" charset="-120"/>
                        </a:rPr>
                        <a:t>半島振興基本方針・計画の拡充（PDCA強化）</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r>
              <a:tr h="411480">
                <a:tc>
                  <a:txBody>
                    <a:bodyPr/>
                    <a:lstStyle/>
                    <a:p>
                      <a:pPr algn="l" indent="0" marL="0">
                        <a:buNone/>
                      </a:pP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2623"/>
                          </a:solidFill>
                          <a:latin typeface="Noto Sans JP" pitchFamily="34" charset="0"/>
                          <a:ea typeface="Noto Sans JP" pitchFamily="34" charset="-122"/>
                          <a:cs typeface="Noto Sans JP" pitchFamily="34" charset="-120"/>
                        </a:rPr>
                        <a:t>協議会等に関する規定の整備</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200" b="1" dirty="0">
                          <a:solidFill>
                            <a:srgbClr val="0D2623"/>
                          </a:solidFill>
                          <a:latin typeface="Noto Sans JP" pitchFamily="34" charset="0"/>
                          <a:ea typeface="Noto Sans JP" pitchFamily="34" charset="-122"/>
                          <a:cs typeface="Noto Sans JP" pitchFamily="34" charset="-120"/>
                        </a:rPr>
                        <a:t>産業・生活基盤</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ctr" indent="0" marL="0">
                        <a:buNone/>
                      </a:pPr>
                      <a:r>
                        <a:rPr lang="en-US" sz="1200" dirty="0">
                          <a:solidFill>
                            <a:srgbClr val="0D2623"/>
                          </a:solidFill>
                          <a:latin typeface="Noto Sans JP" pitchFamily="34" charset="0"/>
                          <a:ea typeface="Noto Sans JP" pitchFamily="34" charset="-122"/>
                          <a:cs typeface="Noto Sans JP" pitchFamily="34" charset="-120"/>
                        </a:rPr>
                        <a:t>交通・物流・情報通信の強化</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r>
              <a:tr h="411480">
                <a:tc>
                  <a:txBody>
                    <a:bodyPr/>
                    <a:lstStyle/>
                    <a:p>
                      <a:pPr algn="l" indent="0" marL="0">
                        <a:buNone/>
                      </a:pP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2623"/>
                          </a:solidFill>
                          <a:latin typeface="Noto Sans JP" pitchFamily="34" charset="0"/>
                          <a:ea typeface="Noto Sans JP" pitchFamily="34" charset="-122"/>
                          <a:cs typeface="Noto Sans JP" pitchFamily="34" charset="-120"/>
                        </a:rPr>
                        <a:t>産業振興・就業促進の強化</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c>
                  <a:txBody>
                    <a:bodyPr/>
                    <a:lstStyle/>
                    <a:p>
                      <a:pPr algn="ctr" indent="0" marL="0">
                        <a:buNone/>
                      </a:pPr>
                      <a:r>
                        <a:rPr lang="en-US" sz="1200" dirty="0">
                          <a:solidFill>
                            <a:srgbClr val="0D2623"/>
                          </a:solidFill>
                          <a:latin typeface="Noto Sans JP" pitchFamily="34" charset="0"/>
                          <a:ea typeface="Noto Sans JP" pitchFamily="34" charset="-122"/>
                          <a:cs typeface="Noto Sans JP" pitchFamily="34" charset="-120"/>
                        </a:rPr>
                        <a:t>医療・福祉・生活サービスの充実</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3F3F3"/>
                    </a:solidFill>
                  </a:tcPr>
                </a:tc>
              </a:tr>
              <a:tr h="411480">
                <a:tc>
                  <a:txBody>
                    <a:bodyPr/>
                    <a:lstStyle/>
                    <a:p>
                      <a:pPr algn="l" indent="0" marL="0">
                        <a:buNone/>
                      </a:pPr>
                      <a:r>
                        <a:rPr lang="en-US" sz="1200" b="1" dirty="0">
                          <a:solidFill>
                            <a:srgbClr val="0D2623"/>
                          </a:solidFill>
                          <a:latin typeface="Noto Sans JP" pitchFamily="34" charset="0"/>
                          <a:ea typeface="Noto Sans JP" pitchFamily="34" charset="-122"/>
                          <a:cs typeface="Noto Sans JP" pitchFamily="34" charset="-120"/>
                        </a:rPr>
                        <a:t>防災・環境</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D2623"/>
                          </a:solidFill>
                          <a:latin typeface="Noto Sans JP" pitchFamily="34" charset="0"/>
                          <a:ea typeface="Noto Sans JP" pitchFamily="34" charset="-122"/>
                          <a:cs typeface="Noto Sans JP" pitchFamily="34" charset="-120"/>
                        </a:rPr>
                        <a:t>自然環境・景観・防災の位置づけ強化</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595959"/>
                </a:solidFill>
                <a:latin typeface="Noto Sans JP" pitchFamily="34" charset="0"/>
                <a:ea typeface="Noto Sans JP" pitchFamily="34" charset="-122"/>
                <a:cs typeface="Noto Sans JP" pitchFamily="34" charset="-120"/>
              </a:rPr>
              <a:t>出所: 衆議院 半島振興法の一部を改正する法律案</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0D2623"/>
                </a:solidFill>
                <a:latin typeface="Noto Sans JP" pitchFamily="34" charset="0"/>
                <a:ea typeface="Noto Sans JP" pitchFamily="34" charset="-122"/>
                <a:cs typeface="Noto Sans JP" pitchFamily="34" charset="-120"/>
              </a:rPr>
              <a:t>法的枠組みはどう強化されたか</a:t>
            </a:r>
            <a:endParaRPr lang="en-US" sz="2400" dirty="0"/>
          </a:p>
        </p:txBody>
      </p:sp>
      <p:sp>
        <p:nvSpPr>
          <p:cNvPr id="3" name="Shape 1"/>
          <p:cNvSpPr/>
          <p:nvPr/>
        </p:nvSpPr>
        <p:spPr>
          <a:xfrm>
            <a:off x="548640" y="731520"/>
            <a:ext cx="1097280" cy="36576"/>
          </a:xfrm>
          <a:prstGeom prst="rect">
            <a:avLst/>
          </a:prstGeom>
          <a:solidFill>
            <a:srgbClr val="FFFF00"/>
          </a:solidFill>
          <a:ln/>
        </p:spPr>
      </p:sp>
      <p:sp>
        <p:nvSpPr>
          <p:cNvPr id="4" name="Shape 2"/>
          <p:cNvSpPr/>
          <p:nvPr/>
        </p:nvSpPr>
        <p:spPr>
          <a:xfrm>
            <a:off x="548640" y="822960"/>
            <a:ext cx="8046720" cy="457200"/>
          </a:xfrm>
          <a:prstGeom prst="rect">
            <a:avLst>
              <a:gd name="adj" fmla="val 10000"/>
            </a:avLst>
          </a:prstGeom>
          <a:solidFill>
            <a:srgbClr val="0D2623"/>
          </a:solidFill>
          <a:ln/>
        </p:spPr>
      </p:sp>
      <p:sp>
        <p:nvSpPr>
          <p:cNvPr id="5" name="Shape 3"/>
          <p:cNvSpPr/>
          <p:nvPr/>
        </p:nvSpPr>
        <p:spPr>
          <a:xfrm>
            <a:off x="548640" y="822960"/>
            <a:ext cx="54864" cy="457200"/>
          </a:xfrm>
          <a:prstGeom prst="rect">
            <a:avLst/>
          </a:prstGeom>
          <a:solidFill>
            <a:srgbClr val="E8DE9F"/>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基本理念の新設と責務の明確化により、政策の実効性を担保する法的基盤が整備された</a:t>
            </a:r>
            <a:endParaRPr lang="en-US" sz="1600" dirty="0"/>
          </a:p>
        </p:txBody>
      </p:sp>
      <p:sp>
        <p:nvSpPr>
          <p:cNvPr id="7" name="Shape 5"/>
          <p:cNvSpPr/>
          <p:nvPr/>
        </p:nvSpPr>
        <p:spPr>
          <a:xfrm>
            <a:off x="548640" y="1463040"/>
            <a:ext cx="457200" cy="548640"/>
          </a:xfrm>
          <a:prstGeom prst="rect">
            <a:avLst>
              <a:gd name="adj" fmla="val 10000"/>
            </a:avLst>
          </a:prstGeom>
          <a:solidFill>
            <a:srgbClr val="E8DE9F"/>
          </a:solidFill>
          <a:ln/>
        </p:spPr>
      </p:sp>
      <p:sp>
        <p:nvSpPr>
          <p:cNvPr id="8" name="Text 6"/>
          <p:cNvSpPr/>
          <p:nvPr/>
        </p:nvSpPr>
        <p:spPr>
          <a:xfrm>
            <a:off x="548640" y="1463040"/>
            <a:ext cx="457200" cy="54864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1</a:t>
            </a:r>
            <a:endParaRPr lang="en-US" sz="1800" dirty="0"/>
          </a:p>
        </p:txBody>
      </p:sp>
      <p:sp>
        <p:nvSpPr>
          <p:cNvPr id="9" name="Shape 7"/>
          <p:cNvSpPr/>
          <p:nvPr/>
        </p:nvSpPr>
        <p:spPr>
          <a:xfrm>
            <a:off x="1188720" y="1463040"/>
            <a:ext cx="7406640" cy="548640"/>
          </a:xfrm>
          <a:prstGeom prst="rect">
            <a:avLst>
              <a:gd name="adj" fmla="val 8333"/>
            </a:avLst>
          </a:prstGeom>
          <a:solidFill>
            <a:srgbClr val="F3F3F3"/>
          </a:solidFill>
          <a:ln/>
        </p:spPr>
      </p:sp>
      <p:sp>
        <p:nvSpPr>
          <p:cNvPr id="10" name="Text 8"/>
          <p:cNvSpPr/>
          <p:nvPr/>
        </p:nvSpPr>
        <p:spPr>
          <a:xfrm>
            <a:off x="1371600" y="1463040"/>
            <a:ext cx="2743200" cy="548640"/>
          </a:xfrm>
          <a:prstGeom prst="rect">
            <a:avLst/>
          </a:prstGeom>
          <a:noFill/>
          <a:ln/>
        </p:spPr>
        <p:txBody>
          <a:bodyPr wrap="square" rtlCol="0" anchor="ctr"/>
          <a:lstStyle/>
          <a:p>
            <a:pPr indent="0" marL="0">
              <a:buNone/>
            </a:pPr>
            <a:r>
              <a:rPr lang="en-US" sz="1600" b="1" dirty="0">
                <a:solidFill>
                  <a:srgbClr val="0D2623"/>
                </a:solidFill>
                <a:latin typeface="Noto Sans JP" pitchFamily="34" charset="0"/>
                <a:ea typeface="Noto Sans JP" pitchFamily="34" charset="-122"/>
                <a:cs typeface="Noto Sans JP" pitchFamily="34" charset="-120"/>
              </a:rPr>
              <a:t>有効期限の10年延長</a:t>
            </a:r>
            <a:endParaRPr lang="en-US" sz="1600" dirty="0"/>
          </a:p>
        </p:txBody>
      </p:sp>
      <p:sp>
        <p:nvSpPr>
          <p:cNvPr id="11" name="Text 9"/>
          <p:cNvSpPr/>
          <p:nvPr/>
        </p:nvSpPr>
        <p:spPr>
          <a:xfrm>
            <a:off x="4114800" y="1463040"/>
            <a:ext cx="4297680" cy="54864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2025年3月末→2035年3月末へ延長。引き続き半島地域を重点的に支援</a:t>
            </a:r>
            <a:endParaRPr lang="en-US" sz="1600" dirty="0"/>
          </a:p>
        </p:txBody>
      </p:sp>
      <p:sp>
        <p:nvSpPr>
          <p:cNvPr id="12" name="Shape 10"/>
          <p:cNvSpPr/>
          <p:nvPr/>
        </p:nvSpPr>
        <p:spPr>
          <a:xfrm>
            <a:off x="548640" y="2148840"/>
            <a:ext cx="457200" cy="548640"/>
          </a:xfrm>
          <a:prstGeom prst="rect">
            <a:avLst>
              <a:gd name="adj" fmla="val 10000"/>
            </a:avLst>
          </a:prstGeom>
          <a:solidFill>
            <a:srgbClr val="E8DE9F"/>
          </a:solidFill>
          <a:ln/>
        </p:spPr>
      </p:sp>
      <p:sp>
        <p:nvSpPr>
          <p:cNvPr id="13" name="Text 11"/>
          <p:cNvSpPr/>
          <p:nvPr/>
        </p:nvSpPr>
        <p:spPr>
          <a:xfrm>
            <a:off x="548640" y="2148840"/>
            <a:ext cx="457200" cy="54864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2</a:t>
            </a:r>
            <a:endParaRPr lang="en-US" sz="1800" dirty="0"/>
          </a:p>
        </p:txBody>
      </p:sp>
      <p:sp>
        <p:nvSpPr>
          <p:cNvPr id="14" name="Shape 12"/>
          <p:cNvSpPr/>
          <p:nvPr/>
        </p:nvSpPr>
        <p:spPr>
          <a:xfrm>
            <a:off x="1188720" y="2148840"/>
            <a:ext cx="7406640" cy="548640"/>
          </a:xfrm>
          <a:prstGeom prst="rect">
            <a:avLst>
              <a:gd name="adj" fmla="val 8333"/>
            </a:avLst>
          </a:prstGeom>
          <a:solidFill>
            <a:srgbClr val="F3F3F3"/>
          </a:solidFill>
          <a:ln/>
        </p:spPr>
      </p:sp>
      <p:sp>
        <p:nvSpPr>
          <p:cNvPr id="15" name="Text 13"/>
          <p:cNvSpPr/>
          <p:nvPr/>
        </p:nvSpPr>
        <p:spPr>
          <a:xfrm>
            <a:off x="1371600" y="2148840"/>
            <a:ext cx="2743200" cy="548640"/>
          </a:xfrm>
          <a:prstGeom prst="rect">
            <a:avLst/>
          </a:prstGeom>
          <a:noFill/>
          <a:ln/>
        </p:spPr>
        <p:txBody>
          <a:bodyPr wrap="square" rtlCol="0" anchor="ctr"/>
          <a:lstStyle/>
          <a:p>
            <a:pPr indent="0" marL="0">
              <a:buNone/>
            </a:pPr>
            <a:r>
              <a:rPr lang="en-US" sz="1600" b="1" dirty="0">
                <a:solidFill>
                  <a:srgbClr val="0D2623"/>
                </a:solidFill>
                <a:latin typeface="Noto Sans JP" pitchFamily="34" charset="0"/>
                <a:ea typeface="Noto Sans JP" pitchFamily="34" charset="-122"/>
                <a:cs typeface="Noto Sans JP" pitchFamily="34" charset="-120"/>
              </a:rPr>
              <a:t>目的規定の見直し</a:t>
            </a:r>
            <a:endParaRPr lang="en-US" sz="1600" dirty="0"/>
          </a:p>
        </p:txBody>
      </p:sp>
      <p:sp>
        <p:nvSpPr>
          <p:cNvPr id="16" name="Text 14"/>
          <p:cNvSpPr/>
          <p:nvPr/>
        </p:nvSpPr>
        <p:spPr>
          <a:xfrm>
            <a:off x="4114800" y="2148840"/>
            <a:ext cx="4297680" cy="54864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従来の「均衡ある発展」に加え、半島防災・地方創生・物資流通の確保を明記</a:t>
            </a:r>
            <a:endParaRPr lang="en-US" sz="1600" dirty="0"/>
          </a:p>
        </p:txBody>
      </p:sp>
      <p:sp>
        <p:nvSpPr>
          <p:cNvPr id="17" name="Shape 15"/>
          <p:cNvSpPr/>
          <p:nvPr/>
        </p:nvSpPr>
        <p:spPr>
          <a:xfrm>
            <a:off x="548640" y="2834640"/>
            <a:ext cx="457200" cy="548640"/>
          </a:xfrm>
          <a:prstGeom prst="rect">
            <a:avLst>
              <a:gd name="adj" fmla="val 10000"/>
            </a:avLst>
          </a:prstGeom>
          <a:solidFill>
            <a:srgbClr val="E8DE9F"/>
          </a:solidFill>
          <a:ln/>
        </p:spPr>
      </p:sp>
      <p:sp>
        <p:nvSpPr>
          <p:cNvPr id="18" name="Text 16"/>
          <p:cNvSpPr/>
          <p:nvPr/>
        </p:nvSpPr>
        <p:spPr>
          <a:xfrm>
            <a:off x="548640" y="2834640"/>
            <a:ext cx="457200" cy="54864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3</a:t>
            </a:r>
            <a:endParaRPr lang="en-US" sz="1800" dirty="0"/>
          </a:p>
        </p:txBody>
      </p:sp>
      <p:sp>
        <p:nvSpPr>
          <p:cNvPr id="19" name="Shape 17"/>
          <p:cNvSpPr/>
          <p:nvPr/>
        </p:nvSpPr>
        <p:spPr>
          <a:xfrm>
            <a:off x="1188720" y="2834640"/>
            <a:ext cx="7406640" cy="548640"/>
          </a:xfrm>
          <a:prstGeom prst="rect">
            <a:avLst>
              <a:gd name="adj" fmla="val 8333"/>
            </a:avLst>
          </a:prstGeom>
          <a:solidFill>
            <a:srgbClr val="F3F3F3"/>
          </a:solidFill>
          <a:ln/>
        </p:spPr>
      </p:sp>
      <p:sp>
        <p:nvSpPr>
          <p:cNvPr id="20" name="Text 18"/>
          <p:cNvSpPr/>
          <p:nvPr/>
        </p:nvSpPr>
        <p:spPr>
          <a:xfrm>
            <a:off x="1371600" y="2834640"/>
            <a:ext cx="2743200" cy="548640"/>
          </a:xfrm>
          <a:prstGeom prst="rect">
            <a:avLst/>
          </a:prstGeom>
          <a:noFill/>
          <a:ln/>
        </p:spPr>
        <p:txBody>
          <a:bodyPr wrap="square" rtlCol="0" anchor="ctr"/>
          <a:lstStyle/>
          <a:p>
            <a:pPr indent="0" marL="0">
              <a:buNone/>
            </a:pPr>
            <a:r>
              <a:rPr lang="en-US" sz="1600" b="1" dirty="0">
                <a:solidFill>
                  <a:srgbClr val="0D2623"/>
                </a:solidFill>
                <a:latin typeface="Noto Sans JP" pitchFamily="34" charset="0"/>
                <a:ea typeface="Noto Sans JP" pitchFamily="34" charset="-122"/>
                <a:cs typeface="Noto Sans JP" pitchFamily="34" charset="-120"/>
              </a:rPr>
              <a:t>基本理念の新設</a:t>
            </a:r>
            <a:endParaRPr lang="en-US" sz="1600" dirty="0"/>
          </a:p>
        </p:txBody>
      </p:sp>
      <p:sp>
        <p:nvSpPr>
          <p:cNvPr id="21" name="Text 19"/>
          <p:cNvSpPr/>
          <p:nvPr/>
        </p:nvSpPr>
        <p:spPr>
          <a:xfrm>
            <a:off x="4114800" y="2834640"/>
            <a:ext cx="4297680" cy="54864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国土強靱化、地方創生、自然環境保全などを基本理念として条文に位置づけ</a:t>
            </a:r>
            <a:endParaRPr lang="en-US" sz="1600" dirty="0"/>
          </a:p>
        </p:txBody>
      </p:sp>
      <p:sp>
        <p:nvSpPr>
          <p:cNvPr id="22" name="Shape 20"/>
          <p:cNvSpPr/>
          <p:nvPr/>
        </p:nvSpPr>
        <p:spPr>
          <a:xfrm>
            <a:off x="548640" y="3520440"/>
            <a:ext cx="457200" cy="548640"/>
          </a:xfrm>
          <a:prstGeom prst="rect">
            <a:avLst>
              <a:gd name="adj" fmla="val 10000"/>
            </a:avLst>
          </a:prstGeom>
          <a:solidFill>
            <a:srgbClr val="E8DE9F"/>
          </a:solidFill>
          <a:ln/>
        </p:spPr>
      </p:sp>
      <p:sp>
        <p:nvSpPr>
          <p:cNvPr id="23" name="Text 21"/>
          <p:cNvSpPr/>
          <p:nvPr/>
        </p:nvSpPr>
        <p:spPr>
          <a:xfrm>
            <a:off x="548640" y="3520440"/>
            <a:ext cx="457200" cy="54864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4</a:t>
            </a:r>
            <a:endParaRPr lang="en-US" sz="1800" dirty="0"/>
          </a:p>
        </p:txBody>
      </p:sp>
      <p:sp>
        <p:nvSpPr>
          <p:cNvPr id="24" name="Shape 22"/>
          <p:cNvSpPr/>
          <p:nvPr/>
        </p:nvSpPr>
        <p:spPr>
          <a:xfrm>
            <a:off x="1188720" y="3520440"/>
            <a:ext cx="7406640" cy="548640"/>
          </a:xfrm>
          <a:prstGeom prst="rect">
            <a:avLst>
              <a:gd name="adj" fmla="val 8333"/>
            </a:avLst>
          </a:prstGeom>
          <a:solidFill>
            <a:srgbClr val="F3F3F3"/>
          </a:solidFill>
          <a:ln/>
        </p:spPr>
      </p:sp>
      <p:sp>
        <p:nvSpPr>
          <p:cNvPr id="25" name="Text 23"/>
          <p:cNvSpPr/>
          <p:nvPr/>
        </p:nvSpPr>
        <p:spPr>
          <a:xfrm>
            <a:off x="1371600" y="3520440"/>
            <a:ext cx="2743200" cy="548640"/>
          </a:xfrm>
          <a:prstGeom prst="rect">
            <a:avLst/>
          </a:prstGeom>
          <a:noFill/>
          <a:ln/>
        </p:spPr>
        <p:txBody>
          <a:bodyPr wrap="square" rtlCol="0" anchor="ctr"/>
          <a:lstStyle/>
          <a:p>
            <a:pPr indent="0" marL="0">
              <a:buNone/>
            </a:pPr>
            <a:r>
              <a:rPr lang="en-US" sz="1600" b="1" dirty="0">
                <a:solidFill>
                  <a:srgbClr val="0D2623"/>
                </a:solidFill>
                <a:latin typeface="Noto Sans JP" pitchFamily="34" charset="0"/>
                <a:ea typeface="Noto Sans JP" pitchFamily="34" charset="-122"/>
                <a:cs typeface="Noto Sans JP" pitchFamily="34" charset="-120"/>
              </a:rPr>
              <a:t>国・都道府県の責務の明確化</a:t>
            </a:r>
            <a:endParaRPr lang="en-US" sz="1600" dirty="0"/>
          </a:p>
        </p:txBody>
      </p:sp>
      <p:sp>
        <p:nvSpPr>
          <p:cNvPr id="26" name="Text 24"/>
          <p:cNvSpPr/>
          <p:nvPr/>
        </p:nvSpPr>
        <p:spPr>
          <a:xfrm>
            <a:off x="4114800" y="3520440"/>
            <a:ext cx="4297680" cy="54864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担当相に首相を追加。国と都道府県の役割・責務を明文化</a:t>
            </a:r>
            <a:endParaRPr lang="en-US" sz="1600" dirty="0"/>
          </a:p>
        </p:txBody>
      </p:sp>
      <p:sp>
        <p:nvSpPr>
          <p:cNvPr id="27" name="Text 25"/>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595959"/>
                </a:solidFill>
                <a:latin typeface="Noto Sans JP" pitchFamily="34" charset="0"/>
                <a:ea typeface="Noto Sans JP" pitchFamily="34" charset="-122"/>
                <a:cs typeface="Noto Sans JP" pitchFamily="34" charset="-120"/>
              </a:rPr>
              <a:t>出所: 衆議院法案情報</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0D2623"/>
                </a:solidFill>
                <a:latin typeface="Noto Sans JP" pitchFamily="34" charset="0"/>
                <a:ea typeface="Noto Sans JP" pitchFamily="34" charset="-122"/>
                <a:cs typeface="Noto Sans JP" pitchFamily="34" charset="-120"/>
              </a:rPr>
              <a:t>計画・推進体制はどう変わったか</a:t>
            </a:r>
            <a:endParaRPr lang="en-US" sz="2400" dirty="0"/>
          </a:p>
        </p:txBody>
      </p:sp>
      <p:sp>
        <p:nvSpPr>
          <p:cNvPr id="3" name="Shape 1"/>
          <p:cNvSpPr/>
          <p:nvPr/>
        </p:nvSpPr>
        <p:spPr>
          <a:xfrm>
            <a:off x="548640" y="731520"/>
            <a:ext cx="1097280" cy="36576"/>
          </a:xfrm>
          <a:prstGeom prst="rect">
            <a:avLst/>
          </a:prstGeom>
          <a:solidFill>
            <a:srgbClr val="FFFF00"/>
          </a:solidFill>
          <a:ln/>
        </p:spPr>
      </p:sp>
      <p:sp>
        <p:nvSpPr>
          <p:cNvPr id="4" name="Shape 2"/>
          <p:cNvSpPr/>
          <p:nvPr/>
        </p:nvSpPr>
        <p:spPr>
          <a:xfrm>
            <a:off x="548640" y="822960"/>
            <a:ext cx="8046720" cy="457200"/>
          </a:xfrm>
          <a:prstGeom prst="rect">
            <a:avLst>
              <a:gd name="adj" fmla="val 10000"/>
            </a:avLst>
          </a:prstGeom>
          <a:solidFill>
            <a:srgbClr val="0D2623"/>
          </a:solidFill>
          <a:ln/>
        </p:spPr>
      </p:sp>
      <p:sp>
        <p:nvSpPr>
          <p:cNvPr id="5" name="Shape 3"/>
          <p:cNvSpPr/>
          <p:nvPr/>
        </p:nvSpPr>
        <p:spPr>
          <a:xfrm>
            <a:off x="548640" y="822960"/>
            <a:ext cx="54864" cy="457200"/>
          </a:xfrm>
          <a:prstGeom prst="rect">
            <a:avLst/>
          </a:prstGeom>
          <a:solidFill>
            <a:srgbClr val="E8DE9F"/>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国の基本方針を新設し、PDCAを回す仕組みと地域連携の枠組みを強化</a:t>
            </a:r>
            <a:endParaRPr lang="en-US" sz="1600" dirty="0"/>
          </a:p>
        </p:txBody>
      </p:sp>
      <p:sp>
        <p:nvSpPr>
          <p:cNvPr id="7" name="Shape 5"/>
          <p:cNvSpPr/>
          <p:nvPr/>
        </p:nvSpPr>
        <p:spPr>
          <a:xfrm>
            <a:off x="548640" y="1463040"/>
            <a:ext cx="3840480" cy="2926080"/>
          </a:xfrm>
          <a:prstGeom prst="rect">
            <a:avLst>
              <a:gd name="adj" fmla="val 3125"/>
            </a:avLst>
          </a:prstGeom>
          <a:solidFill>
            <a:srgbClr val="F3F3F3"/>
          </a:solidFill>
          <a:ln/>
        </p:spPr>
      </p:sp>
      <p:sp>
        <p:nvSpPr>
          <p:cNvPr id="8" name="Shape 6"/>
          <p:cNvSpPr/>
          <p:nvPr/>
        </p:nvSpPr>
        <p:spPr>
          <a:xfrm>
            <a:off x="548640" y="1463040"/>
            <a:ext cx="3840480" cy="457200"/>
          </a:xfrm>
          <a:prstGeom prst="rect">
            <a:avLst>
              <a:gd name="adj" fmla="val 20000"/>
            </a:avLst>
          </a:prstGeom>
          <a:solidFill>
            <a:srgbClr val="0D2623"/>
          </a:solidFill>
          <a:ln/>
        </p:spPr>
      </p:sp>
      <p:sp>
        <p:nvSpPr>
          <p:cNvPr id="9" name="Text 7"/>
          <p:cNvSpPr/>
          <p:nvPr/>
        </p:nvSpPr>
        <p:spPr>
          <a:xfrm>
            <a:off x="548640" y="1463040"/>
            <a:ext cx="3840480" cy="45720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半島振興基本方針・計画の拡充</a:t>
            </a:r>
            <a:endParaRPr lang="en-US" sz="1600" dirty="0"/>
          </a:p>
        </p:txBody>
      </p:sp>
      <p:sp>
        <p:nvSpPr>
          <p:cNvPr id="10" name="Text 8"/>
          <p:cNvSpPr/>
          <p:nvPr/>
        </p:nvSpPr>
        <p:spPr>
          <a:xfrm>
            <a:off x="731520" y="2011680"/>
            <a:ext cx="3474720" cy="2286000"/>
          </a:xfrm>
          <a:prstGeom prst="rect">
            <a:avLst/>
          </a:prstGeom>
          <a:noFill/>
          <a:ln/>
        </p:spPr>
        <p:txBody>
          <a:bodyPr wrap="square" rtlCol="0" anchor="t"/>
          <a:lstStyle/>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・国が「半島振興基本方針」を新たに策定</a:t>
            </a:r>
            <a:endParaRPr lang="en-US" sz="1600" dirty="0"/>
          </a:p>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・都道府県はこの方針に基づき振興計画を作成</a:t>
            </a:r>
            <a:endParaRPr lang="en-US" sz="1600" dirty="0"/>
          </a:p>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・計画に「目標」「計画期間」「達成状況の評価」を必須化</a:t>
            </a:r>
            <a:endParaRPr lang="en-US" sz="1600" dirty="0"/>
          </a:p>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・PDCAサイクルを制度的に組み込み</a:t>
            </a:r>
            <a:endParaRPr lang="en-US" sz="1600" dirty="0"/>
          </a:p>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・都道府県の計画策定は努力義務に緩和</a:t>
            </a:r>
            <a:endParaRPr lang="en-US" sz="1600" dirty="0"/>
          </a:p>
        </p:txBody>
      </p:sp>
      <p:sp>
        <p:nvSpPr>
          <p:cNvPr id="11" name="Shape 9"/>
          <p:cNvSpPr/>
          <p:nvPr/>
        </p:nvSpPr>
        <p:spPr>
          <a:xfrm>
            <a:off x="4754880" y="1463040"/>
            <a:ext cx="3840480" cy="2926080"/>
          </a:xfrm>
          <a:prstGeom prst="rect">
            <a:avLst>
              <a:gd name="adj" fmla="val 3125"/>
            </a:avLst>
          </a:prstGeom>
          <a:solidFill>
            <a:srgbClr val="F3F3F3"/>
          </a:solidFill>
          <a:ln/>
        </p:spPr>
      </p:sp>
      <p:sp>
        <p:nvSpPr>
          <p:cNvPr id="12" name="Shape 10"/>
          <p:cNvSpPr/>
          <p:nvPr/>
        </p:nvSpPr>
        <p:spPr>
          <a:xfrm>
            <a:off x="4754880" y="1463040"/>
            <a:ext cx="3840480" cy="457200"/>
          </a:xfrm>
          <a:prstGeom prst="rect">
            <a:avLst>
              <a:gd name="adj" fmla="val 20000"/>
            </a:avLst>
          </a:prstGeom>
          <a:solidFill>
            <a:srgbClr val="E8DE9F"/>
          </a:solidFill>
          <a:ln/>
        </p:spPr>
      </p:sp>
      <p:sp>
        <p:nvSpPr>
          <p:cNvPr id="13" name="Text 11"/>
          <p:cNvSpPr/>
          <p:nvPr/>
        </p:nvSpPr>
        <p:spPr>
          <a:xfrm>
            <a:off x="4754880" y="1463040"/>
            <a:ext cx="3840480" cy="457200"/>
          </a:xfrm>
          <a:prstGeom prst="rect">
            <a:avLst/>
          </a:prstGeom>
          <a:noFill/>
          <a:ln/>
        </p:spPr>
        <p:txBody>
          <a:bodyPr wrap="square" rtlCol="0" anchor="ctr"/>
          <a:lstStyle/>
          <a:p>
            <a:pPr algn="ctr" indent="0" marL="0">
              <a:buNone/>
            </a:pPr>
            <a:r>
              <a:rPr lang="en-US" sz="1600" b="1" dirty="0">
                <a:solidFill>
                  <a:srgbClr val="0D2623"/>
                </a:solidFill>
                <a:latin typeface="Noto Sans JP" pitchFamily="34" charset="0"/>
                <a:ea typeface="Noto Sans JP" pitchFamily="34" charset="-122"/>
                <a:cs typeface="Noto Sans JP" pitchFamily="34" charset="-120"/>
              </a:rPr>
              <a:t>協議会等の規定整備</a:t>
            </a:r>
            <a:endParaRPr lang="en-US" sz="1600" dirty="0"/>
          </a:p>
        </p:txBody>
      </p:sp>
      <p:sp>
        <p:nvSpPr>
          <p:cNvPr id="14" name="Text 12"/>
          <p:cNvSpPr/>
          <p:nvPr/>
        </p:nvSpPr>
        <p:spPr>
          <a:xfrm>
            <a:off x="4937760" y="2011680"/>
            <a:ext cx="3474720" cy="2286000"/>
          </a:xfrm>
          <a:prstGeom prst="rect">
            <a:avLst/>
          </a:prstGeom>
          <a:noFill/>
          <a:ln/>
        </p:spPr>
        <p:txBody>
          <a:bodyPr wrap="square" rtlCol="0" anchor="t"/>
          <a:lstStyle/>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・関係者間の連携・協力を促進する規定を新設</a:t>
            </a:r>
            <a:endParaRPr lang="en-US" sz="1600" dirty="0"/>
          </a:p>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・地域内外のプレーヤーが連携しやすい枠組み</a:t>
            </a:r>
            <a:endParaRPr lang="en-US" sz="1600" dirty="0"/>
          </a:p>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・多様な主体（国・自治体・民間・住民）の参画促進</a:t>
            </a:r>
            <a:endParaRPr lang="en-US" sz="1600" dirty="0"/>
          </a:p>
          <a:p>
            <a:pPr indent="0" marL="0">
              <a:lnSpc>
                <a:spcPct val="140000"/>
              </a:lnSpc>
              <a:buNone/>
            </a:pPr>
            <a:r>
              <a:rPr lang="en-US" sz="1600" dirty="0">
                <a:solidFill>
                  <a:srgbClr val="434343"/>
                </a:solidFill>
                <a:latin typeface="Noto Sans JP" pitchFamily="34" charset="0"/>
                <a:ea typeface="Noto Sans JP" pitchFamily="34" charset="-122"/>
                <a:cs typeface="Noto Sans JP" pitchFamily="34" charset="-120"/>
              </a:rPr>
              <a:t>・情報共有・意見交換の場を制度的に保障</a:t>
            </a:r>
            <a:endParaRPr lang="en-US" sz="1600" dirty="0"/>
          </a:p>
        </p:txBody>
      </p:sp>
      <p:sp>
        <p:nvSpPr>
          <p:cNvPr id="15" name="Text 13"/>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595959"/>
                </a:solidFill>
                <a:latin typeface="Noto Sans JP" pitchFamily="34" charset="0"/>
                <a:ea typeface="Noto Sans JP" pitchFamily="34" charset="-122"/>
                <a:cs typeface="Noto Sans JP" pitchFamily="34" charset="-120"/>
              </a:rPr>
              <a:t>出所: 国土交通省、衆議院法案情報</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2623"/>
          </a:solidFill>
          <a:ln/>
        </p:spPr>
      </p:sp>
      <p:sp>
        <p:nvSpPr>
          <p:cNvPr id="3" name="Text 1"/>
          <p:cNvSpPr/>
          <p:nvPr/>
        </p:nvSpPr>
        <p:spPr>
          <a:xfrm>
            <a:off x="548640" y="731520"/>
            <a:ext cx="3657600" cy="1828800"/>
          </a:xfrm>
          <a:prstGeom prst="rect">
            <a:avLst/>
          </a:prstGeom>
          <a:noFill/>
          <a:ln/>
        </p:spPr>
        <p:txBody>
          <a:bodyPr wrap="square" rtlCol="0" anchor="ctr"/>
          <a:lstStyle/>
          <a:p>
            <a:pPr indent="0" marL="0">
              <a:buNone/>
            </a:pPr>
            <a:r>
              <a:rPr lang="en-US" sz="8000" b="1" dirty="0">
                <a:solidFill>
                  <a:srgbClr val="E8DE9F"/>
                </a:solidFill>
                <a:latin typeface="Noto Sans JP" pitchFamily="34" charset="0"/>
                <a:ea typeface="Noto Sans JP" pitchFamily="34" charset="-122"/>
                <a:cs typeface="Noto Sans JP" pitchFamily="34" charset="-120"/>
              </a:rPr>
              <a:t>03</a:t>
            </a:r>
            <a:endParaRPr lang="en-US" sz="8000" dirty="0"/>
          </a:p>
        </p:txBody>
      </p:sp>
      <p:sp>
        <p:nvSpPr>
          <p:cNvPr id="4" name="Shape 2"/>
          <p:cNvSpPr/>
          <p:nvPr/>
        </p:nvSpPr>
        <p:spPr>
          <a:xfrm>
            <a:off x="548640" y="2651760"/>
            <a:ext cx="1828800" cy="54864"/>
          </a:xfrm>
          <a:prstGeom prst="rect">
            <a:avLst/>
          </a:prstGeom>
          <a:solidFill>
            <a:srgbClr val="E8DE9F"/>
          </a:solidFill>
          <a:ln/>
        </p:spPr>
      </p:sp>
      <p:sp>
        <p:nvSpPr>
          <p:cNvPr id="5" name="Text 3"/>
          <p:cNvSpPr/>
          <p:nvPr/>
        </p:nvSpPr>
        <p:spPr>
          <a:xfrm>
            <a:off x="548640" y="2926080"/>
            <a:ext cx="8046720" cy="914400"/>
          </a:xfrm>
          <a:prstGeom prst="rect">
            <a:avLst/>
          </a:prstGeom>
          <a:noFill/>
          <a:ln/>
        </p:spPr>
        <p:txBody>
          <a:bodyPr wrap="square" rtlCol="0" anchor="t"/>
          <a:lstStyle/>
          <a:p>
            <a:pPr indent="0" marL="0">
              <a:buNone/>
            </a:pPr>
            <a:r>
              <a:rPr lang="en-US" sz="3200" b="1" dirty="0">
                <a:solidFill>
                  <a:srgbClr val="FFFFFF"/>
                </a:solidFill>
                <a:latin typeface="Noto Sans JP" pitchFamily="34" charset="0"/>
                <a:ea typeface="Noto Sans JP" pitchFamily="34" charset="-122"/>
                <a:cs typeface="Noto Sans JP" pitchFamily="34" charset="-120"/>
              </a:rPr>
              <a:t>各分野の具体施策</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0D2623"/>
                </a:solidFill>
                <a:latin typeface="Noto Sans JP" pitchFamily="34" charset="0"/>
                <a:ea typeface="Noto Sans JP" pitchFamily="34" charset="-122"/>
                <a:cs typeface="Noto Sans JP" pitchFamily="34" charset="-120"/>
              </a:rPr>
              <a:t>交通・物流・情報通信はどう強化されるか</a:t>
            </a:r>
            <a:endParaRPr lang="en-US" sz="2400" dirty="0"/>
          </a:p>
        </p:txBody>
      </p:sp>
      <p:sp>
        <p:nvSpPr>
          <p:cNvPr id="3" name="Shape 1"/>
          <p:cNvSpPr/>
          <p:nvPr/>
        </p:nvSpPr>
        <p:spPr>
          <a:xfrm>
            <a:off x="548640" y="731520"/>
            <a:ext cx="1097280" cy="36576"/>
          </a:xfrm>
          <a:prstGeom prst="rect">
            <a:avLst/>
          </a:prstGeom>
          <a:solidFill>
            <a:srgbClr val="FFFF00"/>
          </a:solidFill>
          <a:ln/>
        </p:spPr>
      </p:sp>
      <p:sp>
        <p:nvSpPr>
          <p:cNvPr id="4" name="Shape 2"/>
          <p:cNvSpPr/>
          <p:nvPr/>
        </p:nvSpPr>
        <p:spPr>
          <a:xfrm>
            <a:off x="548640" y="822960"/>
            <a:ext cx="8046720" cy="457200"/>
          </a:xfrm>
          <a:prstGeom prst="rect">
            <a:avLst>
              <a:gd name="adj" fmla="val 10000"/>
            </a:avLst>
          </a:prstGeom>
          <a:solidFill>
            <a:srgbClr val="0D2623"/>
          </a:solidFill>
          <a:ln/>
        </p:spPr>
      </p:sp>
      <p:sp>
        <p:nvSpPr>
          <p:cNvPr id="5" name="Shape 3"/>
          <p:cNvSpPr/>
          <p:nvPr/>
        </p:nvSpPr>
        <p:spPr>
          <a:xfrm>
            <a:off x="548640" y="822960"/>
            <a:ext cx="54864" cy="457200"/>
          </a:xfrm>
          <a:prstGeom prst="rect">
            <a:avLst/>
          </a:prstGeom>
          <a:solidFill>
            <a:srgbClr val="E8DE9F"/>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物理的アクセスとデジタル基盤の両面から半島地域の連結性を高める</a:t>
            </a:r>
            <a:endParaRPr lang="en-US" sz="1600" dirty="0"/>
          </a:p>
        </p:txBody>
      </p:sp>
      <p:sp>
        <p:nvSpPr>
          <p:cNvPr id="7" name="Shape 5"/>
          <p:cNvSpPr/>
          <p:nvPr/>
        </p:nvSpPr>
        <p:spPr>
          <a:xfrm>
            <a:off x="548640" y="1554480"/>
            <a:ext cx="1600200" cy="640080"/>
          </a:xfrm>
          <a:prstGeom prst="rect">
            <a:avLst>
              <a:gd name="adj" fmla="val 11429"/>
            </a:avLst>
          </a:prstGeom>
          <a:solidFill>
            <a:srgbClr val="0D2623"/>
          </a:solidFill>
          <a:ln/>
        </p:spPr>
      </p:sp>
      <p:sp>
        <p:nvSpPr>
          <p:cNvPr id="8" name="Text 6"/>
          <p:cNvSpPr/>
          <p:nvPr/>
        </p:nvSpPr>
        <p:spPr>
          <a:xfrm>
            <a:off x="548640" y="1554480"/>
            <a:ext cx="1600200" cy="64008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交通基盤</a:t>
            </a:r>
            <a:endParaRPr lang="en-US" sz="1600" dirty="0"/>
          </a:p>
        </p:txBody>
      </p:sp>
      <p:sp>
        <p:nvSpPr>
          <p:cNvPr id="9" name="Text 7"/>
          <p:cNvSpPr/>
          <p:nvPr/>
        </p:nvSpPr>
        <p:spPr>
          <a:xfrm>
            <a:off x="2286000" y="1554480"/>
            <a:ext cx="274320" cy="640080"/>
          </a:xfrm>
          <a:prstGeom prst="rect">
            <a:avLst/>
          </a:prstGeom>
          <a:noFill/>
          <a:ln/>
        </p:spPr>
        <p:txBody>
          <a:bodyPr wrap="square" rtlCol="0" anchor="ctr"/>
          <a:lstStyle/>
          <a:p>
            <a:pPr algn="ctr" indent="0" marL="0">
              <a:buNone/>
            </a:pPr>
            <a:r>
              <a:rPr lang="en-US" sz="1600" dirty="0">
                <a:solidFill>
                  <a:srgbClr val="E8DE9F"/>
                </a:solidFill>
                <a:latin typeface="Noto Sans JP" pitchFamily="34" charset="0"/>
                <a:ea typeface="Noto Sans JP" pitchFamily="34" charset="-122"/>
                <a:cs typeface="Noto Sans JP" pitchFamily="34" charset="-120"/>
              </a:rPr>
              <a:t>▶</a:t>
            </a:r>
            <a:endParaRPr lang="en-US" sz="1600" dirty="0"/>
          </a:p>
        </p:txBody>
      </p:sp>
      <p:sp>
        <p:nvSpPr>
          <p:cNvPr id="10" name="Shape 8"/>
          <p:cNvSpPr/>
          <p:nvPr/>
        </p:nvSpPr>
        <p:spPr>
          <a:xfrm>
            <a:off x="548640" y="2377440"/>
            <a:ext cx="1600200" cy="2011680"/>
          </a:xfrm>
          <a:prstGeom prst="rect">
            <a:avLst>
              <a:gd name="adj" fmla="val 4571"/>
            </a:avLst>
          </a:prstGeom>
          <a:solidFill>
            <a:srgbClr val="F3F3F3"/>
          </a:solidFill>
          <a:ln/>
        </p:spPr>
      </p:sp>
      <p:sp>
        <p:nvSpPr>
          <p:cNvPr id="11" name="Text 9"/>
          <p:cNvSpPr/>
          <p:nvPr/>
        </p:nvSpPr>
        <p:spPr>
          <a:xfrm>
            <a:off x="640080" y="2468880"/>
            <a:ext cx="1417320" cy="1828800"/>
          </a:xfrm>
          <a:prstGeom prst="rect">
            <a:avLst/>
          </a:prstGeom>
          <a:noFill/>
          <a:ln/>
        </p:spPr>
        <p:txBody>
          <a:bodyPr wrap="square" rtlCol="0" anchor="t"/>
          <a:lstStyle/>
          <a:p>
            <a:pPr indent="0" marL="0">
              <a:lnSpc>
                <a:spcPct val="130000"/>
              </a:lnSpc>
              <a:buNone/>
            </a:pPr>
            <a:r>
              <a:rPr lang="en-US" sz="1600" dirty="0">
                <a:solidFill>
                  <a:srgbClr val="434343"/>
                </a:solidFill>
                <a:latin typeface="Noto Sans JP" pitchFamily="34" charset="0"/>
                <a:ea typeface="Noto Sans JP" pitchFamily="34" charset="-122"/>
                <a:cs typeface="Noto Sans JP" pitchFamily="34" charset="-120"/>
              </a:rPr>
              <a:t>・道路・港湾・空港の</a:t>
            </a:r>
            <a:endParaRPr lang="en-US" sz="1600" dirty="0"/>
          </a:p>
          <a:p>
            <a:pPr indent="0" marL="0">
              <a:lnSpc>
                <a:spcPct val="130000"/>
              </a:lnSpc>
              <a:buNone/>
            </a:pPr>
            <a:r>
              <a:rPr lang="en-US" sz="1600" dirty="0">
                <a:solidFill>
                  <a:srgbClr val="434343"/>
                </a:solidFill>
                <a:latin typeface="Noto Sans JP" pitchFamily="34" charset="0"/>
                <a:ea typeface="Noto Sans JP" pitchFamily="34" charset="-122"/>
                <a:cs typeface="Noto Sans JP" pitchFamily="34" charset="-120"/>
              </a:rPr>
              <a:t>  整備・耐震化</a:t>
            </a:r>
            <a:endParaRPr lang="en-US" sz="1600" dirty="0"/>
          </a:p>
          <a:p>
            <a:pPr indent="0" marL="0">
              <a:lnSpc>
                <a:spcPct val="130000"/>
              </a:lnSpc>
              <a:buNone/>
            </a:pPr>
            <a:r>
              <a:rPr lang="en-US" sz="1600" dirty="0">
                <a:solidFill>
                  <a:srgbClr val="434343"/>
                </a:solidFill>
                <a:latin typeface="Noto Sans JP" pitchFamily="34" charset="0"/>
                <a:ea typeface="Noto Sans JP" pitchFamily="34" charset="-122"/>
                <a:cs typeface="Noto Sans JP" pitchFamily="34" charset="-120"/>
              </a:rPr>
              <a:t>・交通施設の保全</a:t>
            </a:r>
            <a:endParaRPr lang="en-US" sz="1600" dirty="0"/>
          </a:p>
        </p:txBody>
      </p:sp>
      <p:sp>
        <p:nvSpPr>
          <p:cNvPr id="12" name="Shape 10"/>
          <p:cNvSpPr/>
          <p:nvPr/>
        </p:nvSpPr>
        <p:spPr>
          <a:xfrm>
            <a:off x="2697480" y="1554480"/>
            <a:ext cx="1600200" cy="640080"/>
          </a:xfrm>
          <a:prstGeom prst="rect">
            <a:avLst>
              <a:gd name="adj" fmla="val 11429"/>
            </a:avLst>
          </a:prstGeom>
          <a:solidFill>
            <a:srgbClr val="0D2623"/>
          </a:solidFill>
          <a:ln/>
        </p:spPr>
      </p:sp>
      <p:sp>
        <p:nvSpPr>
          <p:cNvPr id="13" name="Text 11"/>
          <p:cNvSpPr/>
          <p:nvPr/>
        </p:nvSpPr>
        <p:spPr>
          <a:xfrm>
            <a:off x="2697480" y="1554480"/>
            <a:ext cx="1600200" cy="64008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物資流通</a:t>
            </a:r>
            <a:endParaRPr lang="en-US" sz="1600" dirty="0"/>
          </a:p>
        </p:txBody>
      </p:sp>
      <p:sp>
        <p:nvSpPr>
          <p:cNvPr id="14" name="Text 12"/>
          <p:cNvSpPr/>
          <p:nvPr/>
        </p:nvSpPr>
        <p:spPr>
          <a:xfrm>
            <a:off x="4434840" y="1554480"/>
            <a:ext cx="274320" cy="640080"/>
          </a:xfrm>
          <a:prstGeom prst="rect">
            <a:avLst/>
          </a:prstGeom>
          <a:noFill/>
          <a:ln/>
        </p:spPr>
        <p:txBody>
          <a:bodyPr wrap="square" rtlCol="0" anchor="ctr"/>
          <a:lstStyle/>
          <a:p>
            <a:pPr algn="ctr" indent="0" marL="0">
              <a:buNone/>
            </a:pPr>
            <a:r>
              <a:rPr lang="en-US" sz="1600" dirty="0">
                <a:solidFill>
                  <a:srgbClr val="E8DE9F"/>
                </a:solidFill>
                <a:latin typeface="Noto Sans JP" pitchFamily="34" charset="0"/>
                <a:ea typeface="Noto Sans JP" pitchFamily="34" charset="-122"/>
                <a:cs typeface="Noto Sans JP" pitchFamily="34" charset="-120"/>
              </a:rPr>
              <a:t>▶</a:t>
            </a:r>
            <a:endParaRPr lang="en-US" sz="1600" dirty="0"/>
          </a:p>
        </p:txBody>
      </p:sp>
      <p:sp>
        <p:nvSpPr>
          <p:cNvPr id="15" name="Shape 13"/>
          <p:cNvSpPr/>
          <p:nvPr/>
        </p:nvSpPr>
        <p:spPr>
          <a:xfrm>
            <a:off x="2697480" y="2377440"/>
            <a:ext cx="1600200" cy="2011680"/>
          </a:xfrm>
          <a:prstGeom prst="rect">
            <a:avLst>
              <a:gd name="adj" fmla="val 4571"/>
            </a:avLst>
          </a:prstGeom>
          <a:solidFill>
            <a:srgbClr val="F3F3F3"/>
          </a:solidFill>
          <a:ln/>
        </p:spPr>
      </p:sp>
      <p:sp>
        <p:nvSpPr>
          <p:cNvPr id="16" name="Text 14"/>
          <p:cNvSpPr/>
          <p:nvPr/>
        </p:nvSpPr>
        <p:spPr>
          <a:xfrm>
            <a:off x="2788920" y="2468880"/>
            <a:ext cx="1417320" cy="1828800"/>
          </a:xfrm>
          <a:prstGeom prst="rect">
            <a:avLst/>
          </a:prstGeom>
          <a:noFill/>
          <a:ln/>
        </p:spPr>
        <p:txBody>
          <a:bodyPr wrap="square" rtlCol="0" anchor="t"/>
          <a:lstStyle/>
          <a:p>
            <a:pPr indent="0" marL="0">
              <a:lnSpc>
                <a:spcPct val="130000"/>
              </a:lnSpc>
              <a:buNone/>
            </a:pPr>
            <a:r>
              <a:rPr lang="en-US" sz="1600" dirty="0">
                <a:solidFill>
                  <a:srgbClr val="434343"/>
                </a:solidFill>
                <a:latin typeface="Noto Sans JP" pitchFamily="34" charset="0"/>
                <a:ea typeface="Noto Sans JP" pitchFamily="34" charset="-122"/>
                <a:cs typeface="Noto Sans JP" pitchFamily="34" charset="-120"/>
              </a:rPr>
              <a:t>・災害時を含む</a:t>
            </a:r>
            <a:endParaRPr lang="en-US" sz="1600" dirty="0"/>
          </a:p>
          <a:p>
            <a:pPr indent="0" marL="0">
              <a:lnSpc>
                <a:spcPct val="130000"/>
              </a:lnSpc>
              <a:buNone/>
            </a:pPr>
            <a:r>
              <a:rPr lang="en-US" sz="1600" dirty="0">
                <a:solidFill>
                  <a:srgbClr val="434343"/>
                </a:solidFill>
                <a:latin typeface="Noto Sans JP" pitchFamily="34" charset="0"/>
                <a:ea typeface="Noto Sans JP" pitchFamily="34" charset="-122"/>
                <a:cs typeface="Noto Sans JP" pitchFamily="34" charset="-120"/>
              </a:rPr>
              <a:t>  物資流通の確保</a:t>
            </a:r>
            <a:endParaRPr lang="en-US" sz="1600" dirty="0"/>
          </a:p>
          <a:p>
            <a:pPr indent="0" marL="0">
              <a:lnSpc>
                <a:spcPct val="130000"/>
              </a:lnSpc>
              <a:buNone/>
            </a:pPr>
            <a:r>
              <a:rPr lang="en-US" sz="1600" dirty="0">
                <a:solidFill>
                  <a:srgbClr val="434343"/>
                </a:solidFill>
                <a:latin typeface="Noto Sans JP" pitchFamily="34" charset="0"/>
                <a:ea typeface="Noto Sans JP" pitchFamily="34" charset="-122"/>
                <a:cs typeface="Noto Sans JP" pitchFamily="34" charset="-120"/>
              </a:rPr>
              <a:t>・輸送ルートの多重化</a:t>
            </a:r>
            <a:endParaRPr lang="en-US" sz="1600" dirty="0"/>
          </a:p>
        </p:txBody>
      </p:sp>
      <p:sp>
        <p:nvSpPr>
          <p:cNvPr id="17" name="Shape 15"/>
          <p:cNvSpPr/>
          <p:nvPr/>
        </p:nvSpPr>
        <p:spPr>
          <a:xfrm>
            <a:off x="4846320" y="1554480"/>
            <a:ext cx="1600200" cy="640080"/>
          </a:xfrm>
          <a:prstGeom prst="rect">
            <a:avLst>
              <a:gd name="adj" fmla="val 11429"/>
            </a:avLst>
          </a:prstGeom>
          <a:solidFill>
            <a:srgbClr val="0D2623"/>
          </a:solidFill>
          <a:ln/>
        </p:spPr>
      </p:sp>
      <p:sp>
        <p:nvSpPr>
          <p:cNvPr id="18" name="Text 16"/>
          <p:cNvSpPr/>
          <p:nvPr/>
        </p:nvSpPr>
        <p:spPr>
          <a:xfrm>
            <a:off x="4846320" y="1554480"/>
            <a:ext cx="1600200" cy="64008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情報通信</a:t>
            </a:r>
            <a:endParaRPr lang="en-US" sz="1600" dirty="0"/>
          </a:p>
        </p:txBody>
      </p:sp>
      <p:sp>
        <p:nvSpPr>
          <p:cNvPr id="19" name="Text 17"/>
          <p:cNvSpPr/>
          <p:nvPr/>
        </p:nvSpPr>
        <p:spPr>
          <a:xfrm>
            <a:off x="6583680" y="1554480"/>
            <a:ext cx="274320" cy="640080"/>
          </a:xfrm>
          <a:prstGeom prst="rect">
            <a:avLst/>
          </a:prstGeom>
          <a:noFill/>
          <a:ln/>
        </p:spPr>
        <p:txBody>
          <a:bodyPr wrap="square" rtlCol="0" anchor="ctr"/>
          <a:lstStyle/>
          <a:p>
            <a:pPr algn="ctr" indent="0" marL="0">
              <a:buNone/>
            </a:pPr>
            <a:r>
              <a:rPr lang="en-US" sz="1600" dirty="0">
                <a:solidFill>
                  <a:srgbClr val="E8DE9F"/>
                </a:solidFill>
                <a:latin typeface="Noto Sans JP" pitchFamily="34" charset="0"/>
                <a:ea typeface="Noto Sans JP" pitchFamily="34" charset="-122"/>
                <a:cs typeface="Noto Sans JP" pitchFamily="34" charset="-120"/>
              </a:rPr>
              <a:t>▶</a:t>
            </a:r>
            <a:endParaRPr lang="en-US" sz="1600" dirty="0"/>
          </a:p>
        </p:txBody>
      </p:sp>
      <p:sp>
        <p:nvSpPr>
          <p:cNvPr id="20" name="Shape 18"/>
          <p:cNvSpPr/>
          <p:nvPr/>
        </p:nvSpPr>
        <p:spPr>
          <a:xfrm>
            <a:off x="4846320" y="2377440"/>
            <a:ext cx="1600200" cy="2011680"/>
          </a:xfrm>
          <a:prstGeom prst="rect">
            <a:avLst>
              <a:gd name="adj" fmla="val 4571"/>
            </a:avLst>
          </a:prstGeom>
          <a:solidFill>
            <a:srgbClr val="F3F3F3"/>
          </a:solidFill>
          <a:ln/>
        </p:spPr>
      </p:sp>
      <p:sp>
        <p:nvSpPr>
          <p:cNvPr id="21" name="Text 19"/>
          <p:cNvSpPr/>
          <p:nvPr/>
        </p:nvSpPr>
        <p:spPr>
          <a:xfrm>
            <a:off x="4937760" y="2468880"/>
            <a:ext cx="1417320" cy="1828800"/>
          </a:xfrm>
          <a:prstGeom prst="rect">
            <a:avLst/>
          </a:prstGeom>
          <a:noFill/>
          <a:ln/>
        </p:spPr>
        <p:txBody>
          <a:bodyPr wrap="square" rtlCol="0" anchor="t"/>
          <a:lstStyle/>
          <a:p>
            <a:pPr indent="0" marL="0">
              <a:lnSpc>
                <a:spcPct val="130000"/>
              </a:lnSpc>
              <a:buNone/>
            </a:pPr>
            <a:r>
              <a:rPr lang="en-US" sz="1600" dirty="0">
                <a:solidFill>
                  <a:srgbClr val="434343"/>
                </a:solidFill>
                <a:latin typeface="Noto Sans JP" pitchFamily="34" charset="0"/>
                <a:ea typeface="Noto Sans JP" pitchFamily="34" charset="-122"/>
                <a:cs typeface="Noto Sans JP" pitchFamily="34" charset="-120"/>
              </a:rPr>
              <a:t>・高度情報通信</a:t>
            </a:r>
            <a:endParaRPr lang="en-US" sz="1600" dirty="0"/>
          </a:p>
          <a:p>
            <a:pPr indent="0" marL="0">
              <a:lnSpc>
                <a:spcPct val="130000"/>
              </a:lnSpc>
              <a:buNone/>
            </a:pPr>
            <a:r>
              <a:rPr lang="en-US" sz="1600" dirty="0">
                <a:solidFill>
                  <a:srgbClr val="434343"/>
                </a:solidFill>
                <a:latin typeface="Noto Sans JP" pitchFamily="34" charset="0"/>
                <a:ea typeface="Noto Sans JP" pitchFamily="34" charset="-122"/>
                <a:cs typeface="Noto Sans JP" pitchFamily="34" charset="-120"/>
              </a:rPr>
              <a:t>  ネットワーク整備</a:t>
            </a:r>
            <a:endParaRPr lang="en-US" sz="1600" dirty="0"/>
          </a:p>
          <a:p>
            <a:pPr indent="0" marL="0">
              <a:lnSpc>
                <a:spcPct val="130000"/>
              </a:lnSpc>
              <a:buNone/>
            </a:pPr>
            <a:r>
              <a:rPr lang="en-US" sz="1600" dirty="0">
                <a:solidFill>
                  <a:srgbClr val="434343"/>
                </a:solidFill>
                <a:latin typeface="Noto Sans JP" pitchFamily="34" charset="0"/>
                <a:ea typeface="Noto Sans JP" pitchFamily="34" charset="-122"/>
                <a:cs typeface="Noto Sans JP" pitchFamily="34" charset="-120"/>
              </a:rPr>
              <a:t>・デジタル基盤の構築</a:t>
            </a:r>
            <a:endParaRPr lang="en-US" sz="1600" dirty="0"/>
          </a:p>
        </p:txBody>
      </p:sp>
      <p:sp>
        <p:nvSpPr>
          <p:cNvPr id="22" name="Shape 20"/>
          <p:cNvSpPr/>
          <p:nvPr/>
        </p:nvSpPr>
        <p:spPr>
          <a:xfrm>
            <a:off x="6995160" y="1554480"/>
            <a:ext cx="1600200" cy="640080"/>
          </a:xfrm>
          <a:prstGeom prst="rect">
            <a:avLst>
              <a:gd name="adj" fmla="val 11429"/>
            </a:avLst>
          </a:prstGeom>
          <a:solidFill>
            <a:srgbClr val="0D2623"/>
          </a:solidFill>
          <a:ln/>
        </p:spPr>
      </p:sp>
      <p:sp>
        <p:nvSpPr>
          <p:cNvPr id="23" name="Text 21"/>
          <p:cNvSpPr/>
          <p:nvPr/>
        </p:nvSpPr>
        <p:spPr>
          <a:xfrm>
            <a:off x="6995160" y="1554480"/>
            <a:ext cx="1600200" cy="64008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デジタル活用</a:t>
            </a:r>
            <a:endParaRPr lang="en-US" sz="1600" dirty="0"/>
          </a:p>
        </p:txBody>
      </p:sp>
      <p:sp>
        <p:nvSpPr>
          <p:cNvPr id="24" name="Shape 22"/>
          <p:cNvSpPr/>
          <p:nvPr/>
        </p:nvSpPr>
        <p:spPr>
          <a:xfrm>
            <a:off x="6995160" y="2377440"/>
            <a:ext cx="1600200" cy="2011680"/>
          </a:xfrm>
          <a:prstGeom prst="rect">
            <a:avLst>
              <a:gd name="adj" fmla="val 4571"/>
            </a:avLst>
          </a:prstGeom>
          <a:solidFill>
            <a:srgbClr val="F3F3F3"/>
          </a:solidFill>
          <a:ln/>
        </p:spPr>
      </p:sp>
      <p:sp>
        <p:nvSpPr>
          <p:cNvPr id="25" name="Text 23"/>
          <p:cNvSpPr/>
          <p:nvPr/>
        </p:nvSpPr>
        <p:spPr>
          <a:xfrm>
            <a:off x="7086600" y="2468880"/>
            <a:ext cx="1417320" cy="1828800"/>
          </a:xfrm>
          <a:prstGeom prst="rect">
            <a:avLst/>
          </a:prstGeom>
          <a:noFill/>
          <a:ln/>
        </p:spPr>
        <p:txBody>
          <a:bodyPr wrap="square" rtlCol="0" anchor="t"/>
          <a:lstStyle/>
          <a:p>
            <a:pPr indent="0" marL="0">
              <a:lnSpc>
                <a:spcPct val="130000"/>
              </a:lnSpc>
              <a:buNone/>
            </a:pPr>
            <a:r>
              <a:rPr lang="en-US" sz="1600" dirty="0">
                <a:solidFill>
                  <a:srgbClr val="434343"/>
                </a:solidFill>
                <a:latin typeface="Noto Sans JP" pitchFamily="34" charset="0"/>
                <a:ea typeface="Noto Sans JP" pitchFamily="34" charset="-122"/>
                <a:cs typeface="Noto Sans JP" pitchFamily="34" charset="-120"/>
              </a:rPr>
              <a:t>・災害時の情報収集</a:t>
            </a:r>
            <a:endParaRPr lang="en-US" sz="1600" dirty="0"/>
          </a:p>
          <a:p>
            <a:pPr indent="0" marL="0">
              <a:lnSpc>
                <a:spcPct val="130000"/>
              </a:lnSpc>
              <a:buNone/>
            </a:pPr>
            <a:r>
              <a:rPr lang="en-US" sz="1600" dirty="0">
                <a:solidFill>
                  <a:srgbClr val="434343"/>
                </a:solidFill>
                <a:latin typeface="Noto Sans JP" pitchFamily="34" charset="0"/>
                <a:ea typeface="Noto Sans JP" pitchFamily="34" charset="-122"/>
                <a:cs typeface="Noto Sans JP" pitchFamily="34" charset="-120"/>
              </a:rPr>
              <a:t>  へのデジタル技術活用</a:t>
            </a:r>
            <a:endParaRPr lang="en-US" sz="1600" dirty="0"/>
          </a:p>
          <a:p>
            <a:pPr indent="0" marL="0">
              <a:lnSpc>
                <a:spcPct val="130000"/>
              </a:lnSpc>
              <a:buNone/>
            </a:pPr>
            <a:r>
              <a:rPr lang="en-US" sz="1600" dirty="0">
                <a:solidFill>
                  <a:srgbClr val="434343"/>
                </a:solidFill>
                <a:latin typeface="Noto Sans JP" pitchFamily="34" charset="0"/>
                <a:ea typeface="Noto Sans JP" pitchFamily="34" charset="-122"/>
                <a:cs typeface="Noto Sans JP" pitchFamily="34" charset="-120"/>
              </a:rPr>
              <a:t>・遠隔サービスの推進</a:t>
            </a:r>
            <a:endParaRPr lang="en-US" sz="1600" dirty="0"/>
          </a:p>
        </p:txBody>
      </p:sp>
      <p:sp>
        <p:nvSpPr>
          <p:cNvPr id="26" name="Text 24"/>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595959"/>
                </a:solidFill>
                <a:latin typeface="Noto Sans JP" pitchFamily="34" charset="0"/>
                <a:ea typeface="Noto Sans JP" pitchFamily="34" charset="-122"/>
                <a:cs typeface="Noto Sans JP" pitchFamily="34" charset="-120"/>
              </a:rPr>
              <a:t>出所: 衆議院法案情報</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0D2623"/>
                </a:solidFill>
                <a:latin typeface="Noto Sans JP" pitchFamily="34" charset="0"/>
                <a:ea typeface="Noto Sans JP" pitchFamily="34" charset="-122"/>
                <a:cs typeface="Noto Sans JP" pitchFamily="34" charset="-120"/>
              </a:rPr>
              <a:t>産業振興・就業促進の具体策は何か</a:t>
            </a:r>
            <a:endParaRPr lang="en-US" sz="2400" dirty="0"/>
          </a:p>
        </p:txBody>
      </p:sp>
      <p:sp>
        <p:nvSpPr>
          <p:cNvPr id="3" name="Shape 1"/>
          <p:cNvSpPr/>
          <p:nvPr/>
        </p:nvSpPr>
        <p:spPr>
          <a:xfrm>
            <a:off x="548640" y="731520"/>
            <a:ext cx="1097280" cy="36576"/>
          </a:xfrm>
          <a:prstGeom prst="rect">
            <a:avLst/>
          </a:prstGeom>
          <a:solidFill>
            <a:srgbClr val="FFFF00"/>
          </a:solidFill>
          <a:ln/>
        </p:spPr>
      </p:sp>
      <p:sp>
        <p:nvSpPr>
          <p:cNvPr id="4" name="Shape 2"/>
          <p:cNvSpPr/>
          <p:nvPr/>
        </p:nvSpPr>
        <p:spPr>
          <a:xfrm>
            <a:off x="548640" y="822960"/>
            <a:ext cx="8046720" cy="457200"/>
          </a:xfrm>
          <a:prstGeom prst="rect">
            <a:avLst>
              <a:gd name="adj" fmla="val 10000"/>
            </a:avLst>
          </a:prstGeom>
          <a:solidFill>
            <a:srgbClr val="0D2623"/>
          </a:solidFill>
          <a:ln/>
        </p:spPr>
      </p:sp>
      <p:sp>
        <p:nvSpPr>
          <p:cNvPr id="5" name="Shape 3"/>
          <p:cNvSpPr/>
          <p:nvPr/>
        </p:nvSpPr>
        <p:spPr>
          <a:xfrm>
            <a:off x="548640" y="822960"/>
            <a:ext cx="54864" cy="457200"/>
          </a:xfrm>
          <a:prstGeom prst="rect">
            <a:avLst/>
          </a:prstGeom>
          <a:solidFill>
            <a:srgbClr val="E8DE9F"/>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「振興」から「競争力強化」へ踏み込み、人材確保と移住促進を法的に後押し</a:t>
            </a:r>
            <a:endParaRPr lang="en-US" sz="1600" dirty="0"/>
          </a:p>
        </p:txBody>
      </p:sp>
      <p:sp>
        <p:nvSpPr>
          <p:cNvPr id="7" name="Shape 5"/>
          <p:cNvSpPr/>
          <p:nvPr/>
        </p:nvSpPr>
        <p:spPr>
          <a:xfrm>
            <a:off x="548640" y="1463040"/>
            <a:ext cx="457200" cy="548640"/>
          </a:xfrm>
          <a:prstGeom prst="rect">
            <a:avLst>
              <a:gd name="adj" fmla="val 10000"/>
            </a:avLst>
          </a:prstGeom>
          <a:solidFill>
            <a:srgbClr val="E8DE9F"/>
          </a:solidFill>
          <a:ln/>
        </p:spPr>
      </p:sp>
      <p:sp>
        <p:nvSpPr>
          <p:cNvPr id="8" name="Text 6"/>
          <p:cNvSpPr/>
          <p:nvPr/>
        </p:nvSpPr>
        <p:spPr>
          <a:xfrm>
            <a:off x="548640" y="1463040"/>
            <a:ext cx="457200" cy="54864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1</a:t>
            </a:r>
            <a:endParaRPr lang="en-US" sz="1800" dirty="0"/>
          </a:p>
        </p:txBody>
      </p:sp>
      <p:sp>
        <p:nvSpPr>
          <p:cNvPr id="9" name="Shape 7"/>
          <p:cNvSpPr/>
          <p:nvPr/>
        </p:nvSpPr>
        <p:spPr>
          <a:xfrm>
            <a:off x="1188720" y="1463040"/>
            <a:ext cx="7406640" cy="548640"/>
          </a:xfrm>
          <a:prstGeom prst="rect">
            <a:avLst>
              <a:gd name="adj" fmla="val 8333"/>
            </a:avLst>
          </a:prstGeom>
          <a:solidFill>
            <a:srgbClr val="F3F3F3"/>
          </a:solidFill>
          <a:ln/>
        </p:spPr>
      </p:sp>
      <p:sp>
        <p:nvSpPr>
          <p:cNvPr id="10" name="Text 8"/>
          <p:cNvSpPr/>
          <p:nvPr/>
        </p:nvSpPr>
        <p:spPr>
          <a:xfrm>
            <a:off x="1371600" y="1463040"/>
            <a:ext cx="2743200" cy="548640"/>
          </a:xfrm>
          <a:prstGeom prst="rect">
            <a:avLst/>
          </a:prstGeom>
          <a:noFill/>
          <a:ln/>
        </p:spPr>
        <p:txBody>
          <a:bodyPr wrap="square" rtlCol="0" anchor="ctr"/>
          <a:lstStyle/>
          <a:p>
            <a:pPr indent="0" marL="0">
              <a:buNone/>
            </a:pPr>
            <a:r>
              <a:rPr lang="en-US" sz="1600" b="1" dirty="0">
                <a:solidFill>
                  <a:srgbClr val="0D2623"/>
                </a:solidFill>
                <a:latin typeface="Noto Sans JP" pitchFamily="34" charset="0"/>
                <a:ea typeface="Noto Sans JP" pitchFamily="34" charset="-122"/>
                <a:cs typeface="Noto Sans JP" pitchFamily="34" charset="-120"/>
              </a:rPr>
              <a:t>農林水産業の競争力強化</a:t>
            </a:r>
            <a:endParaRPr lang="en-US" sz="1600" dirty="0"/>
          </a:p>
        </p:txBody>
      </p:sp>
      <p:sp>
        <p:nvSpPr>
          <p:cNvPr id="11" name="Text 9"/>
          <p:cNvSpPr/>
          <p:nvPr/>
        </p:nvSpPr>
        <p:spPr>
          <a:xfrm>
            <a:off x="4114800" y="1463040"/>
            <a:ext cx="4297680" cy="54864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従来の「振興」に加え「競争力の強化」を目的に追加。再エネ活用も推進</a:t>
            </a:r>
            <a:endParaRPr lang="en-US" sz="1600" dirty="0"/>
          </a:p>
        </p:txBody>
      </p:sp>
      <p:sp>
        <p:nvSpPr>
          <p:cNvPr id="12" name="Shape 10"/>
          <p:cNvSpPr/>
          <p:nvPr/>
        </p:nvSpPr>
        <p:spPr>
          <a:xfrm>
            <a:off x="548640" y="2148840"/>
            <a:ext cx="457200" cy="548640"/>
          </a:xfrm>
          <a:prstGeom prst="rect">
            <a:avLst>
              <a:gd name="adj" fmla="val 10000"/>
            </a:avLst>
          </a:prstGeom>
          <a:solidFill>
            <a:srgbClr val="E8DE9F"/>
          </a:solidFill>
          <a:ln/>
        </p:spPr>
      </p:sp>
      <p:sp>
        <p:nvSpPr>
          <p:cNvPr id="13" name="Text 11"/>
          <p:cNvSpPr/>
          <p:nvPr/>
        </p:nvSpPr>
        <p:spPr>
          <a:xfrm>
            <a:off x="548640" y="2148840"/>
            <a:ext cx="457200" cy="54864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2</a:t>
            </a:r>
            <a:endParaRPr lang="en-US" sz="1800" dirty="0"/>
          </a:p>
        </p:txBody>
      </p:sp>
      <p:sp>
        <p:nvSpPr>
          <p:cNvPr id="14" name="Shape 12"/>
          <p:cNvSpPr/>
          <p:nvPr/>
        </p:nvSpPr>
        <p:spPr>
          <a:xfrm>
            <a:off x="1188720" y="2148840"/>
            <a:ext cx="7406640" cy="548640"/>
          </a:xfrm>
          <a:prstGeom prst="rect">
            <a:avLst>
              <a:gd name="adj" fmla="val 8333"/>
            </a:avLst>
          </a:prstGeom>
          <a:solidFill>
            <a:srgbClr val="F3F3F3"/>
          </a:solidFill>
          <a:ln/>
        </p:spPr>
      </p:sp>
      <p:sp>
        <p:nvSpPr>
          <p:cNvPr id="15" name="Text 13"/>
          <p:cNvSpPr/>
          <p:nvPr/>
        </p:nvSpPr>
        <p:spPr>
          <a:xfrm>
            <a:off x="1371600" y="2148840"/>
            <a:ext cx="2743200" cy="548640"/>
          </a:xfrm>
          <a:prstGeom prst="rect">
            <a:avLst/>
          </a:prstGeom>
          <a:noFill/>
          <a:ln/>
        </p:spPr>
        <p:txBody>
          <a:bodyPr wrap="square" rtlCol="0" anchor="ctr"/>
          <a:lstStyle/>
          <a:p>
            <a:pPr indent="0" marL="0">
              <a:buNone/>
            </a:pPr>
            <a:r>
              <a:rPr lang="en-US" sz="1600" b="1" dirty="0">
                <a:solidFill>
                  <a:srgbClr val="0D2623"/>
                </a:solidFill>
                <a:latin typeface="Noto Sans JP" pitchFamily="34" charset="0"/>
                <a:ea typeface="Noto Sans JP" pitchFamily="34" charset="-122"/>
                <a:cs typeface="Noto Sans JP" pitchFamily="34" charset="-120"/>
              </a:rPr>
              <a:t>移住・定住・二地域居住の促進</a:t>
            </a:r>
            <a:endParaRPr lang="en-US" sz="1600" dirty="0"/>
          </a:p>
        </p:txBody>
      </p:sp>
      <p:sp>
        <p:nvSpPr>
          <p:cNvPr id="16" name="Text 14"/>
          <p:cNvSpPr/>
          <p:nvPr/>
        </p:nvSpPr>
        <p:spPr>
          <a:xfrm>
            <a:off x="4114800" y="2148840"/>
            <a:ext cx="4297680" cy="54864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移住促進・関係人口の拡大に関する配慮規定を新設</a:t>
            </a:r>
            <a:endParaRPr lang="en-US" sz="1600" dirty="0"/>
          </a:p>
        </p:txBody>
      </p:sp>
      <p:sp>
        <p:nvSpPr>
          <p:cNvPr id="17" name="Shape 15"/>
          <p:cNvSpPr/>
          <p:nvPr/>
        </p:nvSpPr>
        <p:spPr>
          <a:xfrm>
            <a:off x="548640" y="2834640"/>
            <a:ext cx="457200" cy="548640"/>
          </a:xfrm>
          <a:prstGeom prst="rect">
            <a:avLst>
              <a:gd name="adj" fmla="val 10000"/>
            </a:avLst>
          </a:prstGeom>
          <a:solidFill>
            <a:srgbClr val="E8DE9F"/>
          </a:solidFill>
          <a:ln/>
        </p:spPr>
      </p:sp>
      <p:sp>
        <p:nvSpPr>
          <p:cNvPr id="18" name="Text 16"/>
          <p:cNvSpPr/>
          <p:nvPr/>
        </p:nvSpPr>
        <p:spPr>
          <a:xfrm>
            <a:off x="548640" y="2834640"/>
            <a:ext cx="457200" cy="54864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3</a:t>
            </a:r>
            <a:endParaRPr lang="en-US" sz="1800" dirty="0"/>
          </a:p>
        </p:txBody>
      </p:sp>
      <p:sp>
        <p:nvSpPr>
          <p:cNvPr id="19" name="Shape 17"/>
          <p:cNvSpPr/>
          <p:nvPr/>
        </p:nvSpPr>
        <p:spPr>
          <a:xfrm>
            <a:off x="1188720" y="2834640"/>
            <a:ext cx="7406640" cy="548640"/>
          </a:xfrm>
          <a:prstGeom prst="rect">
            <a:avLst>
              <a:gd name="adj" fmla="val 8333"/>
            </a:avLst>
          </a:prstGeom>
          <a:solidFill>
            <a:srgbClr val="F3F3F3"/>
          </a:solidFill>
          <a:ln/>
        </p:spPr>
      </p:sp>
      <p:sp>
        <p:nvSpPr>
          <p:cNvPr id="20" name="Text 18"/>
          <p:cNvSpPr/>
          <p:nvPr/>
        </p:nvSpPr>
        <p:spPr>
          <a:xfrm>
            <a:off x="1371600" y="2834640"/>
            <a:ext cx="2743200" cy="548640"/>
          </a:xfrm>
          <a:prstGeom prst="rect">
            <a:avLst/>
          </a:prstGeom>
          <a:noFill/>
          <a:ln/>
        </p:spPr>
        <p:txBody>
          <a:bodyPr wrap="square" rtlCol="0" anchor="ctr"/>
          <a:lstStyle/>
          <a:p>
            <a:pPr indent="0" marL="0">
              <a:buNone/>
            </a:pPr>
            <a:r>
              <a:rPr lang="en-US" sz="1600" b="1" dirty="0">
                <a:solidFill>
                  <a:srgbClr val="0D2623"/>
                </a:solidFill>
                <a:latin typeface="Noto Sans JP" pitchFamily="34" charset="0"/>
                <a:ea typeface="Noto Sans JP" pitchFamily="34" charset="-122"/>
                <a:cs typeface="Noto Sans JP" pitchFamily="34" charset="-120"/>
              </a:rPr>
              <a:t>人材育成と連携協力</a:t>
            </a:r>
            <a:endParaRPr lang="en-US" sz="1600" dirty="0"/>
          </a:p>
        </p:txBody>
      </p:sp>
      <p:sp>
        <p:nvSpPr>
          <p:cNvPr id="21" name="Text 19"/>
          <p:cNvSpPr/>
          <p:nvPr/>
        </p:nvSpPr>
        <p:spPr>
          <a:xfrm>
            <a:off x="4114800" y="2834640"/>
            <a:ext cx="4297680" cy="54864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地域を支える人材の育成、関係者間の連携・協力に関する条文を拡充</a:t>
            </a:r>
            <a:endParaRPr lang="en-US" sz="1600" dirty="0"/>
          </a:p>
        </p:txBody>
      </p:sp>
      <p:sp>
        <p:nvSpPr>
          <p:cNvPr id="22" name="Shape 20"/>
          <p:cNvSpPr/>
          <p:nvPr/>
        </p:nvSpPr>
        <p:spPr>
          <a:xfrm>
            <a:off x="548640" y="3520440"/>
            <a:ext cx="457200" cy="548640"/>
          </a:xfrm>
          <a:prstGeom prst="rect">
            <a:avLst>
              <a:gd name="adj" fmla="val 10000"/>
            </a:avLst>
          </a:prstGeom>
          <a:solidFill>
            <a:srgbClr val="E8DE9F"/>
          </a:solidFill>
          <a:ln/>
        </p:spPr>
      </p:sp>
      <p:sp>
        <p:nvSpPr>
          <p:cNvPr id="23" name="Text 21"/>
          <p:cNvSpPr/>
          <p:nvPr/>
        </p:nvSpPr>
        <p:spPr>
          <a:xfrm>
            <a:off x="548640" y="3520440"/>
            <a:ext cx="457200" cy="54864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4</a:t>
            </a:r>
            <a:endParaRPr lang="en-US" sz="1800" dirty="0"/>
          </a:p>
        </p:txBody>
      </p:sp>
      <p:sp>
        <p:nvSpPr>
          <p:cNvPr id="24" name="Shape 22"/>
          <p:cNvSpPr/>
          <p:nvPr/>
        </p:nvSpPr>
        <p:spPr>
          <a:xfrm>
            <a:off x="1188720" y="3520440"/>
            <a:ext cx="7406640" cy="548640"/>
          </a:xfrm>
          <a:prstGeom prst="rect">
            <a:avLst>
              <a:gd name="adj" fmla="val 8333"/>
            </a:avLst>
          </a:prstGeom>
          <a:solidFill>
            <a:srgbClr val="F3F3F3"/>
          </a:solidFill>
          <a:ln/>
        </p:spPr>
      </p:sp>
      <p:sp>
        <p:nvSpPr>
          <p:cNvPr id="25" name="Text 23"/>
          <p:cNvSpPr/>
          <p:nvPr/>
        </p:nvSpPr>
        <p:spPr>
          <a:xfrm>
            <a:off x="1371600" y="3520440"/>
            <a:ext cx="2743200" cy="548640"/>
          </a:xfrm>
          <a:prstGeom prst="rect">
            <a:avLst/>
          </a:prstGeom>
          <a:noFill/>
          <a:ln/>
        </p:spPr>
        <p:txBody>
          <a:bodyPr wrap="square" rtlCol="0" anchor="ctr"/>
          <a:lstStyle/>
          <a:p>
            <a:pPr indent="0" marL="0">
              <a:buNone/>
            </a:pPr>
            <a:r>
              <a:rPr lang="en-US" sz="1600" b="1" dirty="0">
                <a:solidFill>
                  <a:srgbClr val="0D2623"/>
                </a:solidFill>
                <a:latin typeface="Noto Sans JP" pitchFamily="34" charset="0"/>
                <a:ea typeface="Noto Sans JP" pitchFamily="34" charset="-122"/>
                <a:cs typeface="Noto Sans JP" pitchFamily="34" charset="-120"/>
              </a:rPr>
              <a:t>地域内経済循環の促進</a:t>
            </a:r>
            <a:endParaRPr lang="en-US" sz="1600" dirty="0"/>
          </a:p>
        </p:txBody>
      </p:sp>
      <p:sp>
        <p:nvSpPr>
          <p:cNvPr id="26" name="Text 24"/>
          <p:cNvSpPr/>
          <p:nvPr/>
        </p:nvSpPr>
        <p:spPr>
          <a:xfrm>
            <a:off x="4114800" y="3520440"/>
            <a:ext cx="4297680" cy="54864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地域資源を核とした経済循環の仕組みづくりを推進</a:t>
            </a:r>
            <a:endParaRPr lang="en-US" sz="1600" dirty="0"/>
          </a:p>
        </p:txBody>
      </p:sp>
      <p:sp>
        <p:nvSpPr>
          <p:cNvPr id="27" name="Text 25"/>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595959"/>
                </a:solidFill>
                <a:latin typeface="Noto Sans JP" pitchFamily="34" charset="0"/>
                <a:ea typeface="Noto Sans JP" pitchFamily="34" charset="-122"/>
                <a:cs typeface="Noto Sans JP" pitchFamily="34" charset="-120"/>
              </a:rPr>
              <a:t>出所: 衆議院法案情報</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0D2623"/>
                </a:solidFill>
                <a:latin typeface="Noto Sans JP" pitchFamily="34" charset="0"/>
                <a:ea typeface="Noto Sans JP" pitchFamily="34" charset="-122"/>
                <a:cs typeface="Noto Sans JP" pitchFamily="34" charset="-120"/>
              </a:rPr>
              <a:t>医療・福祉・生活サービスはどう充実するか</a:t>
            </a:r>
            <a:endParaRPr lang="en-US" sz="2400" dirty="0"/>
          </a:p>
        </p:txBody>
      </p:sp>
      <p:sp>
        <p:nvSpPr>
          <p:cNvPr id="3" name="Shape 1"/>
          <p:cNvSpPr/>
          <p:nvPr/>
        </p:nvSpPr>
        <p:spPr>
          <a:xfrm>
            <a:off x="548640" y="731520"/>
            <a:ext cx="1097280" cy="36576"/>
          </a:xfrm>
          <a:prstGeom prst="rect">
            <a:avLst/>
          </a:prstGeom>
          <a:solidFill>
            <a:srgbClr val="FFFF00"/>
          </a:solidFill>
          <a:ln/>
        </p:spPr>
      </p:sp>
      <p:sp>
        <p:nvSpPr>
          <p:cNvPr id="4" name="Shape 2"/>
          <p:cNvSpPr/>
          <p:nvPr/>
        </p:nvSpPr>
        <p:spPr>
          <a:xfrm>
            <a:off x="548640" y="822960"/>
            <a:ext cx="8046720" cy="457200"/>
          </a:xfrm>
          <a:prstGeom prst="rect">
            <a:avLst>
              <a:gd name="adj" fmla="val 10000"/>
            </a:avLst>
          </a:prstGeom>
          <a:solidFill>
            <a:srgbClr val="0D2623"/>
          </a:solidFill>
          <a:ln/>
        </p:spPr>
      </p:sp>
      <p:sp>
        <p:nvSpPr>
          <p:cNvPr id="5" name="Shape 3"/>
          <p:cNvSpPr/>
          <p:nvPr/>
        </p:nvSpPr>
        <p:spPr>
          <a:xfrm>
            <a:off x="548640" y="822960"/>
            <a:ext cx="54864" cy="457200"/>
          </a:xfrm>
          <a:prstGeom prst="rect">
            <a:avLst/>
          </a:prstGeom>
          <a:solidFill>
            <a:srgbClr val="E8DE9F"/>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遠隔医療・介護ロボットなどテクノロジー活用と、対象範囲の拡大で生活基盤を強化</a:t>
            </a:r>
            <a:endParaRPr lang="en-US" sz="1600" dirty="0"/>
          </a:p>
        </p:txBody>
      </p:sp>
      <p:sp>
        <p:nvSpPr>
          <p:cNvPr id="7" name="Shape 5"/>
          <p:cNvSpPr/>
          <p:nvPr/>
        </p:nvSpPr>
        <p:spPr>
          <a:xfrm>
            <a:off x="548640" y="1463040"/>
            <a:ext cx="457200" cy="548640"/>
          </a:xfrm>
          <a:prstGeom prst="rect">
            <a:avLst>
              <a:gd name="adj" fmla="val 10000"/>
            </a:avLst>
          </a:prstGeom>
          <a:solidFill>
            <a:srgbClr val="E8DE9F"/>
          </a:solidFill>
          <a:ln/>
        </p:spPr>
      </p:sp>
      <p:sp>
        <p:nvSpPr>
          <p:cNvPr id="8" name="Text 6"/>
          <p:cNvSpPr/>
          <p:nvPr/>
        </p:nvSpPr>
        <p:spPr>
          <a:xfrm>
            <a:off x="548640" y="1463040"/>
            <a:ext cx="457200" cy="54864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1</a:t>
            </a:r>
            <a:endParaRPr lang="en-US" sz="1800" dirty="0"/>
          </a:p>
        </p:txBody>
      </p:sp>
      <p:sp>
        <p:nvSpPr>
          <p:cNvPr id="9" name="Shape 7"/>
          <p:cNvSpPr/>
          <p:nvPr/>
        </p:nvSpPr>
        <p:spPr>
          <a:xfrm>
            <a:off x="1188720" y="1463040"/>
            <a:ext cx="7406640" cy="548640"/>
          </a:xfrm>
          <a:prstGeom prst="rect">
            <a:avLst>
              <a:gd name="adj" fmla="val 8333"/>
            </a:avLst>
          </a:prstGeom>
          <a:solidFill>
            <a:srgbClr val="F3F3F3"/>
          </a:solidFill>
          <a:ln/>
        </p:spPr>
      </p:sp>
      <p:sp>
        <p:nvSpPr>
          <p:cNvPr id="10" name="Text 8"/>
          <p:cNvSpPr/>
          <p:nvPr/>
        </p:nvSpPr>
        <p:spPr>
          <a:xfrm>
            <a:off x="1371600" y="1463040"/>
            <a:ext cx="2743200" cy="548640"/>
          </a:xfrm>
          <a:prstGeom prst="rect">
            <a:avLst/>
          </a:prstGeom>
          <a:noFill/>
          <a:ln/>
        </p:spPr>
        <p:txBody>
          <a:bodyPr wrap="square" rtlCol="0" anchor="ctr"/>
          <a:lstStyle/>
          <a:p>
            <a:pPr indent="0" marL="0">
              <a:buNone/>
            </a:pPr>
            <a:r>
              <a:rPr lang="en-US" sz="1600" b="1" dirty="0">
                <a:solidFill>
                  <a:srgbClr val="0D2623"/>
                </a:solidFill>
                <a:latin typeface="Noto Sans JP" pitchFamily="34" charset="0"/>
                <a:ea typeface="Noto Sans JP" pitchFamily="34" charset="-122"/>
                <a:cs typeface="Noto Sans JP" pitchFamily="34" charset="-120"/>
              </a:rPr>
              <a:t>医療の確保と遠隔医療</a:t>
            </a:r>
            <a:endParaRPr lang="en-US" sz="1600" dirty="0"/>
          </a:p>
        </p:txBody>
      </p:sp>
      <p:sp>
        <p:nvSpPr>
          <p:cNvPr id="11" name="Text 9"/>
          <p:cNvSpPr/>
          <p:nvPr/>
        </p:nvSpPr>
        <p:spPr>
          <a:xfrm>
            <a:off x="4114800" y="1463040"/>
            <a:ext cx="4297680" cy="54864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無医地区に限らず広く医療確保を規定。遠隔医療への配慮を追加</a:t>
            </a:r>
            <a:endParaRPr lang="en-US" sz="1600" dirty="0"/>
          </a:p>
        </p:txBody>
      </p:sp>
      <p:sp>
        <p:nvSpPr>
          <p:cNvPr id="12" name="Shape 10"/>
          <p:cNvSpPr/>
          <p:nvPr/>
        </p:nvSpPr>
        <p:spPr>
          <a:xfrm>
            <a:off x="548640" y="2148840"/>
            <a:ext cx="457200" cy="548640"/>
          </a:xfrm>
          <a:prstGeom prst="rect">
            <a:avLst>
              <a:gd name="adj" fmla="val 10000"/>
            </a:avLst>
          </a:prstGeom>
          <a:solidFill>
            <a:srgbClr val="E8DE9F"/>
          </a:solidFill>
          <a:ln/>
        </p:spPr>
      </p:sp>
      <p:sp>
        <p:nvSpPr>
          <p:cNvPr id="13" name="Text 11"/>
          <p:cNvSpPr/>
          <p:nvPr/>
        </p:nvSpPr>
        <p:spPr>
          <a:xfrm>
            <a:off x="548640" y="2148840"/>
            <a:ext cx="457200" cy="54864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2</a:t>
            </a:r>
            <a:endParaRPr lang="en-US" sz="1800" dirty="0"/>
          </a:p>
        </p:txBody>
      </p:sp>
      <p:sp>
        <p:nvSpPr>
          <p:cNvPr id="14" name="Shape 12"/>
          <p:cNvSpPr/>
          <p:nvPr/>
        </p:nvSpPr>
        <p:spPr>
          <a:xfrm>
            <a:off x="1188720" y="2148840"/>
            <a:ext cx="7406640" cy="548640"/>
          </a:xfrm>
          <a:prstGeom prst="rect">
            <a:avLst>
              <a:gd name="adj" fmla="val 8333"/>
            </a:avLst>
          </a:prstGeom>
          <a:solidFill>
            <a:srgbClr val="F3F3F3"/>
          </a:solidFill>
          <a:ln/>
        </p:spPr>
      </p:sp>
      <p:sp>
        <p:nvSpPr>
          <p:cNvPr id="15" name="Text 13"/>
          <p:cNvSpPr/>
          <p:nvPr/>
        </p:nvSpPr>
        <p:spPr>
          <a:xfrm>
            <a:off x="1371600" y="2148840"/>
            <a:ext cx="2743200" cy="548640"/>
          </a:xfrm>
          <a:prstGeom prst="rect">
            <a:avLst/>
          </a:prstGeom>
          <a:noFill/>
          <a:ln/>
        </p:spPr>
        <p:txBody>
          <a:bodyPr wrap="square" rtlCol="0" anchor="ctr"/>
          <a:lstStyle/>
          <a:p>
            <a:pPr indent="0" marL="0">
              <a:buNone/>
            </a:pPr>
            <a:r>
              <a:rPr lang="en-US" sz="1600" b="1" dirty="0">
                <a:solidFill>
                  <a:srgbClr val="0D2623"/>
                </a:solidFill>
                <a:latin typeface="Noto Sans JP" pitchFamily="34" charset="0"/>
                <a:ea typeface="Noto Sans JP" pitchFamily="34" charset="-122"/>
                <a:cs typeface="Noto Sans JP" pitchFamily="34" charset="-120"/>
              </a:rPr>
              <a:t>介護サービスの充実</a:t>
            </a:r>
            <a:endParaRPr lang="en-US" sz="1600" dirty="0"/>
          </a:p>
        </p:txBody>
      </p:sp>
      <p:sp>
        <p:nvSpPr>
          <p:cNvPr id="16" name="Text 14"/>
          <p:cNvSpPr/>
          <p:nvPr/>
        </p:nvSpPr>
        <p:spPr>
          <a:xfrm>
            <a:off x="4114800" y="2148840"/>
            <a:ext cx="4297680" cy="54864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地域人材活用に加え、介護ロボット導入などテクノロジー活用への配慮を追加</a:t>
            </a:r>
            <a:endParaRPr lang="en-US" sz="1600" dirty="0"/>
          </a:p>
        </p:txBody>
      </p:sp>
      <p:sp>
        <p:nvSpPr>
          <p:cNvPr id="17" name="Shape 15"/>
          <p:cNvSpPr/>
          <p:nvPr/>
        </p:nvSpPr>
        <p:spPr>
          <a:xfrm>
            <a:off x="548640" y="2834640"/>
            <a:ext cx="457200" cy="548640"/>
          </a:xfrm>
          <a:prstGeom prst="rect">
            <a:avLst>
              <a:gd name="adj" fmla="val 10000"/>
            </a:avLst>
          </a:prstGeom>
          <a:solidFill>
            <a:srgbClr val="E8DE9F"/>
          </a:solidFill>
          <a:ln/>
        </p:spPr>
      </p:sp>
      <p:sp>
        <p:nvSpPr>
          <p:cNvPr id="18" name="Text 16"/>
          <p:cNvSpPr/>
          <p:nvPr/>
        </p:nvSpPr>
        <p:spPr>
          <a:xfrm>
            <a:off x="548640" y="2834640"/>
            <a:ext cx="457200" cy="54864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3</a:t>
            </a:r>
            <a:endParaRPr lang="en-US" sz="1800" dirty="0"/>
          </a:p>
        </p:txBody>
      </p:sp>
      <p:sp>
        <p:nvSpPr>
          <p:cNvPr id="19" name="Shape 17"/>
          <p:cNvSpPr/>
          <p:nvPr/>
        </p:nvSpPr>
        <p:spPr>
          <a:xfrm>
            <a:off x="1188720" y="2834640"/>
            <a:ext cx="7406640" cy="548640"/>
          </a:xfrm>
          <a:prstGeom prst="rect">
            <a:avLst>
              <a:gd name="adj" fmla="val 8333"/>
            </a:avLst>
          </a:prstGeom>
          <a:solidFill>
            <a:srgbClr val="F3F3F3"/>
          </a:solidFill>
          <a:ln/>
        </p:spPr>
      </p:sp>
      <p:sp>
        <p:nvSpPr>
          <p:cNvPr id="20" name="Text 18"/>
          <p:cNvSpPr/>
          <p:nvPr/>
        </p:nvSpPr>
        <p:spPr>
          <a:xfrm>
            <a:off x="1371600" y="2834640"/>
            <a:ext cx="2743200" cy="548640"/>
          </a:xfrm>
          <a:prstGeom prst="rect">
            <a:avLst/>
          </a:prstGeom>
          <a:noFill/>
          <a:ln/>
        </p:spPr>
        <p:txBody>
          <a:bodyPr wrap="square" rtlCol="0" anchor="ctr"/>
          <a:lstStyle/>
          <a:p>
            <a:pPr indent="0" marL="0">
              <a:buNone/>
            </a:pPr>
            <a:r>
              <a:rPr lang="en-US" sz="1600" b="1" dirty="0">
                <a:solidFill>
                  <a:srgbClr val="0D2623"/>
                </a:solidFill>
                <a:latin typeface="Noto Sans JP" pitchFamily="34" charset="0"/>
                <a:ea typeface="Noto Sans JP" pitchFamily="34" charset="-122"/>
                <a:cs typeface="Noto Sans JP" pitchFamily="34" charset="-120"/>
              </a:rPr>
              <a:t>児童福祉の追加</a:t>
            </a:r>
            <a:endParaRPr lang="en-US" sz="1600" dirty="0"/>
          </a:p>
        </p:txBody>
      </p:sp>
      <p:sp>
        <p:nvSpPr>
          <p:cNvPr id="21" name="Text 19"/>
          <p:cNvSpPr/>
          <p:nvPr/>
        </p:nvSpPr>
        <p:spPr>
          <a:xfrm>
            <a:off x="4114800" y="2834640"/>
            <a:ext cx="4297680" cy="54864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従来の高齢者福祉に加え、児童福祉に関する事項も対象に拡張</a:t>
            </a:r>
            <a:endParaRPr lang="en-US" sz="1600" dirty="0"/>
          </a:p>
        </p:txBody>
      </p:sp>
      <p:sp>
        <p:nvSpPr>
          <p:cNvPr id="22" name="Shape 20"/>
          <p:cNvSpPr/>
          <p:nvPr/>
        </p:nvSpPr>
        <p:spPr>
          <a:xfrm>
            <a:off x="548640" y="3520440"/>
            <a:ext cx="457200" cy="548640"/>
          </a:xfrm>
          <a:prstGeom prst="rect">
            <a:avLst>
              <a:gd name="adj" fmla="val 10000"/>
            </a:avLst>
          </a:prstGeom>
          <a:solidFill>
            <a:srgbClr val="E8DE9F"/>
          </a:solidFill>
          <a:ln/>
        </p:spPr>
      </p:sp>
      <p:sp>
        <p:nvSpPr>
          <p:cNvPr id="23" name="Text 21"/>
          <p:cNvSpPr/>
          <p:nvPr/>
        </p:nvSpPr>
        <p:spPr>
          <a:xfrm>
            <a:off x="548640" y="3520440"/>
            <a:ext cx="457200" cy="548640"/>
          </a:xfrm>
          <a:prstGeom prst="rect">
            <a:avLst/>
          </a:prstGeom>
          <a:noFill/>
          <a:ln/>
        </p:spPr>
        <p:txBody>
          <a:bodyPr wrap="square" rtlCol="0" anchor="ctr"/>
          <a:lstStyle/>
          <a:p>
            <a:pPr algn="ctr" indent="0" marL="0">
              <a:buNone/>
            </a:pPr>
            <a:r>
              <a:rPr lang="en-US" sz="1800" b="1" dirty="0">
                <a:solidFill>
                  <a:srgbClr val="0D2623"/>
                </a:solidFill>
                <a:latin typeface="Noto Sans JP" pitchFamily="34" charset="0"/>
                <a:ea typeface="Noto Sans JP" pitchFamily="34" charset="-122"/>
                <a:cs typeface="Noto Sans JP" pitchFamily="34" charset="-120"/>
              </a:rPr>
              <a:t>4</a:t>
            </a:r>
            <a:endParaRPr lang="en-US" sz="1800" dirty="0"/>
          </a:p>
        </p:txBody>
      </p:sp>
      <p:sp>
        <p:nvSpPr>
          <p:cNvPr id="24" name="Shape 22"/>
          <p:cNvSpPr/>
          <p:nvPr/>
        </p:nvSpPr>
        <p:spPr>
          <a:xfrm>
            <a:off x="1188720" y="3520440"/>
            <a:ext cx="7406640" cy="548640"/>
          </a:xfrm>
          <a:prstGeom prst="rect">
            <a:avLst>
              <a:gd name="adj" fmla="val 8333"/>
            </a:avLst>
          </a:prstGeom>
          <a:solidFill>
            <a:srgbClr val="F3F3F3"/>
          </a:solidFill>
          <a:ln/>
        </p:spPr>
      </p:sp>
      <p:sp>
        <p:nvSpPr>
          <p:cNvPr id="25" name="Text 23"/>
          <p:cNvSpPr/>
          <p:nvPr/>
        </p:nvSpPr>
        <p:spPr>
          <a:xfrm>
            <a:off x="1371600" y="3520440"/>
            <a:ext cx="2743200" cy="548640"/>
          </a:xfrm>
          <a:prstGeom prst="rect">
            <a:avLst/>
          </a:prstGeom>
          <a:noFill/>
          <a:ln/>
        </p:spPr>
        <p:txBody>
          <a:bodyPr wrap="square" rtlCol="0" anchor="ctr"/>
          <a:lstStyle/>
          <a:p>
            <a:pPr indent="0" marL="0">
              <a:buNone/>
            </a:pPr>
            <a:r>
              <a:rPr lang="en-US" sz="1600" b="1" dirty="0">
                <a:solidFill>
                  <a:srgbClr val="0D2623"/>
                </a:solidFill>
                <a:latin typeface="Noto Sans JP" pitchFamily="34" charset="0"/>
                <a:ea typeface="Noto Sans JP" pitchFamily="34" charset="-122"/>
                <a:cs typeface="Noto Sans JP" pitchFamily="34" charset="-120"/>
              </a:rPr>
              <a:t>生活環境全般の質の向上</a:t>
            </a:r>
            <a:endParaRPr lang="en-US" sz="1600" dirty="0"/>
          </a:p>
        </p:txBody>
      </p:sp>
      <p:sp>
        <p:nvSpPr>
          <p:cNvPr id="26" name="Text 24"/>
          <p:cNvSpPr/>
          <p:nvPr/>
        </p:nvSpPr>
        <p:spPr>
          <a:xfrm>
            <a:off x="4114800" y="3520440"/>
            <a:ext cx="4297680" cy="54864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生活サービスを包括的に捉え、住民の暮らしの質を高める方向に拡張</a:t>
            </a:r>
            <a:endParaRPr lang="en-US" sz="1600" dirty="0"/>
          </a:p>
        </p:txBody>
      </p:sp>
      <p:sp>
        <p:nvSpPr>
          <p:cNvPr id="27" name="Text 25"/>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595959"/>
                </a:solidFill>
                <a:latin typeface="Noto Sans JP" pitchFamily="34" charset="0"/>
                <a:ea typeface="Noto Sans JP" pitchFamily="34" charset="-122"/>
                <a:cs typeface="Noto Sans JP" pitchFamily="34" charset="-120"/>
              </a:rPr>
              <a:t>出所: 衆議院法案情報</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0D2623"/>
                </a:solidFill>
                <a:latin typeface="Noto Sans JP" pitchFamily="34" charset="0"/>
                <a:ea typeface="Noto Sans JP" pitchFamily="34" charset="-122"/>
                <a:cs typeface="Noto Sans JP" pitchFamily="34" charset="-120"/>
              </a:rPr>
              <a:t>防災・自然環境の位置づけはどう変わったか</a:t>
            </a:r>
            <a:endParaRPr lang="en-US" sz="2400" dirty="0"/>
          </a:p>
        </p:txBody>
      </p:sp>
      <p:sp>
        <p:nvSpPr>
          <p:cNvPr id="3" name="Shape 1"/>
          <p:cNvSpPr/>
          <p:nvPr/>
        </p:nvSpPr>
        <p:spPr>
          <a:xfrm>
            <a:off x="548640" y="731520"/>
            <a:ext cx="1097280" cy="36576"/>
          </a:xfrm>
          <a:prstGeom prst="rect">
            <a:avLst/>
          </a:prstGeom>
          <a:solidFill>
            <a:srgbClr val="FFFF00"/>
          </a:solidFill>
          <a:ln/>
        </p:spPr>
      </p:sp>
      <p:sp>
        <p:nvSpPr>
          <p:cNvPr id="4" name="Shape 2"/>
          <p:cNvSpPr/>
          <p:nvPr/>
        </p:nvSpPr>
        <p:spPr>
          <a:xfrm>
            <a:off x="548640" y="822960"/>
            <a:ext cx="8046720" cy="457200"/>
          </a:xfrm>
          <a:prstGeom prst="rect">
            <a:avLst>
              <a:gd name="adj" fmla="val 10000"/>
            </a:avLst>
          </a:prstGeom>
          <a:solidFill>
            <a:srgbClr val="0D2623"/>
          </a:solidFill>
          <a:ln/>
        </p:spPr>
      </p:sp>
      <p:sp>
        <p:nvSpPr>
          <p:cNvPr id="5" name="Shape 3"/>
          <p:cNvSpPr/>
          <p:nvPr/>
        </p:nvSpPr>
        <p:spPr>
          <a:xfrm>
            <a:off x="548640" y="822960"/>
            <a:ext cx="54864" cy="457200"/>
          </a:xfrm>
          <a:prstGeom prst="rect">
            <a:avLst/>
          </a:prstGeom>
          <a:solidFill>
            <a:srgbClr val="E8DE9F"/>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能登半島地震を教訓に、防災を半島振興の最重要柱の一つに格上げ</a:t>
            </a:r>
            <a:endParaRPr lang="en-US" sz="1600" dirty="0"/>
          </a:p>
        </p:txBody>
      </p:sp>
      <p:sp>
        <p:nvSpPr>
          <p:cNvPr id="7" name="Shape 5"/>
          <p:cNvSpPr/>
          <p:nvPr/>
        </p:nvSpPr>
        <p:spPr>
          <a:xfrm>
            <a:off x="548640" y="1463040"/>
            <a:ext cx="3840480" cy="502920"/>
          </a:xfrm>
          <a:prstGeom prst="rect">
            <a:avLst>
              <a:gd name="adj" fmla="val 14545"/>
            </a:avLst>
          </a:prstGeom>
          <a:solidFill>
            <a:srgbClr val="595959"/>
          </a:solidFill>
          <a:ln/>
        </p:spPr>
      </p:sp>
      <p:sp>
        <p:nvSpPr>
          <p:cNvPr id="8" name="Text 6"/>
          <p:cNvSpPr/>
          <p:nvPr/>
        </p:nvSpPr>
        <p:spPr>
          <a:xfrm>
            <a:off x="548640" y="1463040"/>
            <a:ext cx="3840480" cy="50292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半島防災の強化</a:t>
            </a:r>
            <a:endParaRPr lang="en-US" sz="1600" dirty="0"/>
          </a:p>
        </p:txBody>
      </p:sp>
      <p:sp>
        <p:nvSpPr>
          <p:cNvPr id="9" name="Shape 7"/>
          <p:cNvSpPr/>
          <p:nvPr/>
        </p:nvSpPr>
        <p:spPr>
          <a:xfrm>
            <a:off x="548640" y="1965960"/>
            <a:ext cx="3840480" cy="2743200"/>
          </a:xfrm>
          <a:prstGeom prst="rect">
            <a:avLst>
              <a:gd name="adj" fmla="val 2667"/>
            </a:avLst>
          </a:prstGeom>
          <a:solidFill>
            <a:srgbClr val="F3F3F3"/>
          </a:solidFill>
          <a:ln/>
        </p:spPr>
      </p:sp>
      <p:sp>
        <p:nvSpPr>
          <p:cNvPr id="10" name="Text 8"/>
          <p:cNvSpPr/>
          <p:nvPr/>
        </p:nvSpPr>
        <p:spPr>
          <a:xfrm>
            <a:off x="731520" y="2148840"/>
            <a:ext cx="3474720" cy="2377440"/>
          </a:xfrm>
          <a:prstGeom prst="rect">
            <a:avLst/>
          </a:prstGeom>
          <a:noFill/>
          <a:ln/>
        </p:spPr>
        <p:txBody>
          <a:bodyPr wrap="square" rtlCol="0" anchor="t"/>
          <a:lstStyle/>
          <a:p>
            <a:pPr indent="0" marL="0">
              <a:lnSpc>
                <a:spcPct val="150000"/>
              </a:lnSpc>
              <a:buNone/>
            </a:pPr>
            <a:r>
              <a:rPr lang="en-US" sz="1600" dirty="0">
                <a:solidFill>
                  <a:srgbClr val="434343"/>
                </a:solidFill>
                <a:latin typeface="Noto Sans JP" pitchFamily="34" charset="0"/>
                <a:ea typeface="Noto Sans JP" pitchFamily="34" charset="-122"/>
                <a:cs typeface="Noto Sans JP" pitchFamily="34" charset="-120"/>
              </a:rPr>
              <a:t>・「半島防災」の推進を施策に明示</a:t>
            </a:r>
            <a:endParaRPr lang="en-US" sz="1600" dirty="0"/>
          </a:p>
          <a:p>
            <a:pPr indent="0" marL="0">
              <a:lnSpc>
                <a:spcPct val="150000"/>
              </a:lnSpc>
              <a:buNone/>
            </a:pPr>
            <a:r>
              <a:rPr lang="en-US" sz="1600" dirty="0">
                <a:solidFill>
                  <a:srgbClr val="434343"/>
                </a:solidFill>
                <a:latin typeface="Noto Sans JP" pitchFamily="34" charset="0"/>
                <a:ea typeface="Noto Sans JP" pitchFamily="34" charset="-122"/>
                <a:cs typeface="Noto Sans JP" pitchFamily="34" charset="-120"/>
              </a:rPr>
              <a:t>・地震・津波を踏まえた具体的対策</a:t>
            </a:r>
            <a:endParaRPr lang="en-US" sz="1600" dirty="0"/>
          </a:p>
          <a:p>
            <a:pPr indent="0" marL="0">
              <a:lnSpc>
                <a:spcPct val="150000"/>
              </a:lnSpc>
              <a:buNone/>
            </a:pPr>
            <a:r>
              <a:rPr lang="en-US" sz="1600" dirty="0">
                <a:solidFill>
                  <a:srgbClr val="434343"/>
                </a:solidFill>
                <a:latin typeface="Noto Sans JP" pitchFamily="34" charset="0"/>
                <a:ea typeface="Noto Sans JP" pitchFamily="34" charset="-122"/>
                <a:cs typeface="Noto Sans JP" pitchFamily="34" charset="-120"/>
              </a:rPr>
              <a:t>・集落孤立の防止対策を推進</a:t>
            </a:r>
            <a:endParaRPr lang="en-US" sz="1600" dirty="0"/>
          </a:p>
          <a:p>
            <a:pPr indent="0" marL="0">
              <a:lnSpc>
                <a:spcPct val="150000"/>
              </a:lnSpc>
              <a:buNone/>
            </a:pPr>
            <a:r>
              <a:rPr lang="en-US" sz="1600" dirty="0">
                <a:solidFill>
                  <a:srgbClr val="434343"/>
                </a:solidFill>
                <a:latin typeface="Noto Sans JP" pitchFamily="34" charset="0"/>
                <a:ea typeface="Noto Sans JP" pitchFamily="34" charset="-122"/>
                <a:cs typeface="Noto Sans JP" pitchFamily="34" charset="-120"/>
              </a:rPr>
              <a:t>・インフラ耐震性の強化・早期復旧体制</a:t>
            </a:r>
            <a:endParaRPr lang="en-US" sz="1600" dirty="0"/>
          </a:p>
          <a:p>
            <a:pPr indent="0" marL="0">
              <a:lnSpc>
                <a:spcPct val="150000"/>
              </a:lnSpc>
              <a:buNone/>
            </a:pPr>
            <a:r>
              <a:rPr lang="en-US" sz="1600" dirty="0">
                <a:solidFill>
                  <a:srgbClr val="434343"/>
                </a:solidFill>
                <a:latin typeface="Noto Sans JP" pitchFamily="34" charset="0"/>
                <a:ea typeface="Noto Sans JP" pitchFamily="34" charset="-122"/>
                <a:cs typeface="Noto Sans JP" pitchFamily="34" charset="-120"/>
              </a:rPr>
              <a:t>・非常用電源（再エネ活用）の導入</a:t>
            </a:r>
            <a:endParaRPr lang="en-US" sz="1600" dirty="0"/>
          </a:p>
        </p:txBody>
      </p:sp>
      <p:sp>
        <p:nvSpPr>
          <p:cNvPr id="11" name="Text 9"/>
          <p:cNvSpPr/>
          <p:nvPr/>
        </p:nvSpPr>
        <p:spPr>
          <a:xfrm>
            <a:off x="4389120" y="1463040"/>
            <a:ext cx="365760" cy="502920"/>
          </a:xfrm>
          <a:prstGeom prst="rect">
            <a:avLst/>
          </a:prstGeom>
          <a:noFill/>
          <a:ln/>
        </p:spPr>
        <p:txBody>
          <a:bodyPr wrap="square" rtlCol="0" anchor="ctr"/>
          <a:lstStyle/>
          <a:p>
            <a:pPr algn="ctr" indent="0" marL="0">
              <a:buNone/>
            </a:pPr>
            <a:r>
              <a:rPr lang="en-US" sz="1600" b="1" dirty="0">
                <a:solidFill>
                  <a:srgbClr val="0D2623"/>
                </a:solidFill>
                <a:latin typeface="Noto Sans JP" pitchFamily="34" charset="0"/>
                <a:ea typeface="Noto Sans JP" pitchFamily="34" charset="-122"/>
                <a:cs typeface="Noto Sans JP" pitchFamily="34" charset="-120"/>
              </a:rPr>
              <a:t>VS</a:t>
            </a:r>
            <a:endParaRPr lang="en-US" sz="1600" dirty="0"/>
          </a:p>
        </p:txBody>
      </p:sp>
      <p:sp>
        <p:nvSpPr>
          <p:cNvPr id="12" name="Shape 10"/>
          <p:cNvSpPr/>
          <p:nvPr/>
        </p:nvSpPr>
        <p:spPr>
          <a:xfrm>
            <a:off x="4754880" y="1463040"/>
            <a:ext cx="3840480" cy="502920"/>
          </a:xfrm>
          <a:prstGeom prst="rect">
            <a:avLst>
              <a:gd name="adj" fmla="val 14545"/>
            </a:avLst>
          </a:prstGeom>
          <a:solidFill>
            <a:srgbClr val="0D2623"/>
          </a:solidFill>
          <a:ln/>
        </p:spPr>
      </p:sp>
      <p:sp>
        <p:nvSpPr>
          <p:cNvPr id="13" name="Text 11"/>
          <p:cNvSpPr/>
          <p:nvPr/>
        </p:nvSpPr>
        <p:spPr>
          <a:xfrm>
            <a:off x="4754880" y="1463040"/>
            <a:ext cx="3840480" cy="50292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自然環境・景観保全</a:t>
            </a:r>
            <a:endParaRPr lang="en-US" sz="1600" dirty="0"/>
          </a:p>
        </p:txBody>
      </p:sp>
      <p:sp>
        <p:nvSpPr>
          <p:cNvPr id="14" name="Shape 12"/>
          <p:cNvSpPr/>
          <p:nvPr/>
        </p:nvSpPr>
        <p:spPr>
          <a:xfrm>
            <a:off x="4754880" y="1965960"/>
            <a:ext cx="3840480" cy="2743200"/>
          </a:xfrm>
          <a:prstGeom prst="rect">
            <a:avLst>
              <a:gd name="adj" fmla="val 2667"/>
            </a:avLst>
          </a:prstGeom>
          <a:solidFill>
            <a:srgbClr val="F3F3F3"/>
          </a:solidFill>
          <a:ln/>
        </p:spPr>
      </p:sp>
      <p:sp>
        <p:nvSpPr>
          <p:cNvPr id="15" name="Text 13"/>
          <p:cNvSpPr/>
          <p:nvPr/>
        </p:nvSpPr>
        <p:spPr>
          <a:xfrm>
            <a:off x="4937760" y="2148840"/>
            <a:ext cx="3474720" cy="2377440"/>
          </a:xfrm>
          <a:prstGeom prst="rect">
            <a:avLst/>
          </a:prstGeom>
          <a:noFill/>
          <a:ln/>
        </p:spPr>
        <p:txBody>
          <a:bodyPr wrap="square" rtlCol="0" anchor="t"/>
          <a:lstStyle/>
          <a:p>
            <a:pPr indent="0" marL="0">
              <a:lnSpc>
                <a:spcPct val="150000"/>
              </a:lnSpc>
              <a:buNone/>
            </a:pPr>
            <a:r>
              <a:rPr lang="en-US" sz="1600" dirty="0">
                <a:solidFill>
                  <a:srgbClr val="434343"/>
                </a:solidFill>
                <a:latin typeface="Noto Sans JP" pitchFamily="34" charset="0"/>
                <a:ea typeface="Noto Sans JP" pitchFamily="34" charset="-122"/>
                <a:cs typeface="Noto Sans JP" pitchFamily="34" charset="-120"/>
              </a:rPr>
              <a:t>・自然環境の保全・再生の配慮規定を新設</a:t>
            </a:r>
            <a:endParaRPr lang="en-US" sz="1600" dirty="0"/>
          </a:p>
          <a:p>
            <a:pPr indent="0" marL="0">
              <a:lnSpc>
                <a:spcPct val="150000"/>
              </a:lnSpc>
              <a:buNone/>
            </a:pPr>
            <a:r>
              <a:rPr lang="en-US" sz="1600" dirty="0">
                <a:solidFill>
                  <a:srgbClr val="434343"/>
                </a:solidFill>
                <a:latin typeface="Noto Sans JP" pitchFamily="34" charset="0"/>
                <a:ea typeface="Noto Sans JP" pitchFamily="34" charset="-122"/>
                <a:cs typeface="Noto Sans JP" pitchFamily="34" charset="-120"/>
              </a:rPr>
              <a:t>・自然景観の保全を明記</a:t>
            </a:r>
            <a:endParaRPr lang="en-US" sz="1600" dirty="0"/>
          </a:p>
          <a:p>
            <a:pPr indent="0" marL="0">
              <a:lnSpc>
                <a:spcPct val="150000"/>
              </a:lnSpc>
              <a:buNone/>
            </a:pPr>
            <a:r>
              <a:rPr lang="en-US" sz="1600" dirty="0">
                <a:solidFill>
                  <a:srgbClr val="434343"/>
                </a:solidFill>
                <a:latin typeface="Noto Sans JP" pitchFamily="34" charset="0"/>
                <a:ea typeface="Noto Sans JP" pitchFamily="34" charset="-122"/>
                <a:cs typeface="Noto Sans JP" pitchFamily="34" charset="-120"/>
              </a:rPr>
              <a:t>・国土強靱化と環境保全の両立</a:t>
            </a:r>
            <a:endParaRPr lang="en-US" sz="1600" dirty="0"/>
          </a:p>
          <a:p>
            <a:pPr indent="0" marL="0">
              <a:lnSpc>
                <a:spcPct val="150000"/>
              </a:lnSpc>
              <a:buNone/>
            </a:pPr>
            <a:r>
              <a:rPr lang="en-US" sz="1600" dirty="0">
                <a:solidFill>
                  <a:srgbClr val="434343"/>
                </a:solidFill>
                <a:latin typeface="Noto Sans JP" pitchFamily="34" charset="0"/>
                <a:ea typeface="Noto Sans JP" pitchFamily="34" charset="-122"/>
                <a:cs typeface="Noto Sans JP" pitchFamily="34" charset="-120"/>
              </a:rPr>
              <a:t>・観光資源としての魅力向上</a:t>
            </a:r>
            <a:endParaRPr lang="en-US" sz="1600" dirty="0"/>
          </a:p>
          <a:p>
            <a:pPr indent="0" marL="0">
              <a:lnSpc>
                <a:spcPct val="150000"/>
              </a:lnSpc>
              <a:buNone/>
            </a:pPr>
            <a:r>
              <a:rPr lang="en-US" sz="1600" dirty="0">
                <a:solidFill>
                  <a:srgbClr val="434343"/>
                </a:solidFill>
                <a:latin typeface="Noto Sans JP" pitchFamily="34" charset="0"/>
                <a:ea typeface="Noto Sans JP" pitchFamily="34" charset="-122"/>
                <a:cs typeface="Noto Sans JP" pitchFamily="34" charset="-120"/>
              </a:rPr>
              <a:t>・持続可能な地域づくりの基盤</a:t>
            </a:r>
            <a:endParaRPr lang="en-US" sz="1600" dirty="0"/>
          </a:p>
        </p:txBody>
      </p:sp>
      <p:sp>
        <p:nvSpPr>
          <p:cNvPr id="16" name="Text 14"/>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595959"/>
                </a:solidFill>
                <a:latin typeface="Noto Sans JP" pitchFamily="34" charset="0"/>
                <a:ea typeface="Noto Sans JP" pitchFamily="34" charset="-122"/>
                <a:cs typeface="Noto Sans JP" pitchFamily="34" charset="-120"/>
              </a:rPr>
              <a:t>出所: 東京新聞、NTN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2623"/>
          </a:solidFill>
          <a:ln/>
        </p:spPr>
      </p:sp>
      <p:sp>
        <p:nvSpPr>
          <p:cNvPr id="3" name="Text 1"/>
          <p:cNvSpPr/>
          <p:nvPr/>
        </p:nvSpPr>
        <p:spPr>
          <a:xfrm>
            <a:off x="548640" y="0"/>
            <a:ext cx="8046720" cy="731520"/>
          </a:xfrm>
          <a:prstGeom prst="rect">
            <a:avLst/>
          </a:prstGeom>
          <a:noFill/>
          <a:ln/>
        </p:spPr>
        <p:txBody>
          <a:bodyPr wrap="square" rtlCol="0" anchor="ctr"/>
          <a:lstStyle/>
          <a:p>
            <a:pPr indent="0" marL="0">
              <a:buNone/>
            </a:pPr>
            <a:r>
              <a:rPr lang="en-US" sz="2400" b="1" dirty="0">
                <a:solidFill>
                  <a:srgbClr val="FFFFFF"/>
                </a:solidFill>
                <a:latin typeface="Noto Sans JP" pitchFamily="34" charset="0"/>
                <a:ea typeface="Noto Sans JP" pitchFamily="34" charset="-122"/>
                <a:cs typeface="Noto Sans JP" pitchFamily="34" charset="-120"/>
              </a:rPr>
              <a:t>CONCLUSION</a:t>
            </a:r>
            <a:endParaRPr lang="en-US" sz="2400" dirty="0"/>
          </a:p>
        </p:txBody>
      </p:sp>
      <p:sp>
        <p:nvSpPr>
          <p:cNvPr id="4" name="Shape 2"/>
          <p:cNvSpPr/>
          <p:nvPr/>
        </p:nvSpPr>
        <p:spPr>
          <a:xfrm>
            <a:off x="548640" y="1097280"/>
            <a:ext cx="8046720" cy="914400"/>
          </a:xfrm>
          <a:prstGeom prst="rect">
            <a:avLst>
              <a:gd name="adj" fmla="val 10000"/>
            </a:avLst>
          </a:prstGeom>
          <a:solidFill>
            <a:srgbClr val="0D2623"/>
          </a:solidFill>
          <a:ln/>
        </p:spPr>
      </p:sp>
      <p:sp>
        <p:nvSpPr>
          <p:cNvPr id="5" name="Text 3"/>
          <p:cNvSpPr/>
          <p:nvPr/>
        </p:nvSpPr>
        <p:spPr>
          <a:xfrm>
            <a:off x="731520" y="1097280"/>
            <a:ext cx="7680960" cy="914400"/>
          </a:xfrm>
          <a:prstGeom prst="rect">
            <a:avLst/>
          </a:prstGeom>
          <a:noFill/>
          <a:ln/>
        </p:spPr>
        <p:txBody>
          <a:bodyPr wrap="square" rtlCol="0" anchor="ctr"/>
          <a:lstStyle/>
          <a:p>
            <a:pPr indent="0" marL="0">
              <a:buNone/>
            </a:pPr>
            <a:r>
              <a:rPr lang="en-US" sz="2000" b="1" dirty="0">
                <a:solidFill>
                  <a:srgbClr val="FFFFFF"/>
                </a:solidFill>
                <a:latin typeface="Noto Sans JP" pitchFamily="34" charset="0"/>
                <a:ea typeface="Noto Sans JP" pitchFamily="34" charset="-122"/>
                <a:cs typeface="Noto Sans JP" pitchFamily="34" charset="-120"/>
              </a:rPr>
              <a:t>半島振興法の改正は、能登半島地震の教訓を法制度に反映し、防災強靭化と地方創生を両輪とする10年の新たな振興フレームワークを構築した</a:t>
            </a:r>
            <a:endParaRPr lang="en-US" sz="2000" dirty="0"/>
          </a:p>
        </p:txBody>
      </p:sp>
      <p:sp>
        <p:nvSpPr>
          <p:cNvPr id="6" name="Text 4"/>
          <p:cNvSpPr/>
          <p:nvPr/>
        </p:nvSpPr>
        <p:spPr>
          <a:xfrm>
            <a:off x="548640" y="2377440"/>
            <a:ext cx="8046720" cy="457200"/>
          </a:xfrm>
          <a:prstGeom prst="rect">
            <a:avLst/>
          </a:prstGeom>
          <a:noFill/>
          <a:ln/>
        </p:spPr>
        <p:txBody>
          <a:bodyPr wrap="square" rtlCol="0" anchor="ctr"/>
          <a:lstStyle/>
          <a:p>
            <a:pPr indent="0" marL="0">
              <a:buNone/>
            </a:pPr>
            <a:r>
              <a:rPr lang="en-US" sz="1800" b="1" dirty="0">
                <a:solidFill>
                  <a:srgbClr val="0D2623"/>
                </a:solidFill>
                <a:latin typeface="Noto Sans JP" pitchFamily="34" charset="0"/>
                <a:ea typeface="Noto Sans JP" pitchFamily="34" charset="-122"/>
                <a:cs typeface="Noto Sans JP" pitchFamily="34" charset="-120"/>
              </a:rPr>
              <a:t>Next Steps</a:t>
            </a:r>
            <a:endParaRPr lang="en-US" sz="1800" dirty="0"/>
          </a:p>
        </p:txBody>
      </p:sp>
      <p:sp>
        <p:nvSpPr>
          <p:cNvPr id="7" name="Shape 5"/>
          <p:cNvSpPr/>
          <p:nvPr/>
        </p:nvSpPr>
        <p:spPr>
          <a:xfrm>
            <a:off x="548640" y="2926080"/>
            <a:ext cx="365760" cy="365760"/>
          </a:xfrm>
          <a:prstGeom prst="rect">
            <a:avLst>
              <a:gd name="adj" fmla="val 12500"/>
            </a:avLst>
          </a:prstGeom>
          <a:solidFill>
            <a:srgbClr val="E8DE9F"/>
          </a:solidFill>
          <a:ln/>
        </p:spPr>
      </p:sp>
      <p:sp>
        <p:nvSpPr>
          <p:cNvPr id="8" name="Text 6"/>
          <p:cNvSpPr/>
          <p:nvPr/>
        </p:nvSpPr>
        <p:spPr>
          <a:xfrm>
            <a:off x="548640" y="2926080"/>
            <a:ext cx="365760" cy="365760"/>
          </a:xfrm>
          <a:prstGeom prst="rect">
            <a:avLst/>
          </a:prstGeom>
          <a:noFill/>
          <a:ln/>
        </p:spPr>
        <p:txBody>
          <a:bodyPr wrap="square" rtlCol="0" anchor="ctr"/>
          <a:lstStyle/>
          <a:p>
            <a:pPr algn="ctr" indent="0" marL="0">
              <a:buNone/>
            </a:pPr>
            <a:r>
              <a:rPr lang="en-US" sz="1600" b="1" dirty="0">
                <a:solidFill>
                  <a:srgbClr val="0D2623"/>
                </a:solidFill>
                <a:latin typeface="Noto Sans JP" pitchFamily="34" charset="0"/>
                <a:ea typeface="Noto Sans JP" pitchFamily="34" charset="-122"/>
                <a:cs typeface="Noto Sans JP" pitchFamily="34" charset="-120"/>
              </a:rPr>
              <a:t>1</a:t>
            </a:r>
            <a:endParaRPr lang="en-US" sz="1600" dirty="0"/>
          </a:p>
        </p:txBody>
      </p:sp>
      <p:sp>
        <p:nvSpPr>
          <p:cNvPr id="9" name="Text 7"/>
          <p:cNvSpPr/>
          <p:nvPr/>
        </p:nvSpPr>
        <p:spPr>
          <a:xfrm>
            <a:off x="1097280" y="2926080"/>
            <a:ext cx="7498080" cy="36576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法的枠組みの強化: 基本理念の新設・責務の明確化・首相を担当相に追加し実効性を担保</a:t>
            </a:r>
            <a:endParaRPr lang="en-US" sz="1600" dirty="0"/>
          </a:p>
        </p:txBody>
      </p:sp>
      <p:sp>
        <p:nvSpPr>
          <p:cNvPr id="10" name="Shape 8"/>
          <p:cNvSpPr/>
          <p:nvPr/>
        </p:nvSpPr>
        <p:spPr>
          <a:xfrm>
            <a:off x="548640" y="3429000"/>
            <a:ext cx="365760" cy="365760"/>
          </a:xfrm>
          <a:prstGeom prst="rect">
            <a:avLst>
              <a:gd name="adj" fmla="val 12500"/>
            </a:avLst>
          </a:prstGeom>
          <a:solidFill>
            <a:srgbClr val="E8DE9F"/>
          </a:solidFill>
          <a:ln/>
        </p:spPr>
      </p:sp>
      <p:sp>
        <p:nvSpPr>
          <p:cNvPr id="11" name="Text 9"/>
          <p:cNvSpPr/>
          <p:nvPr/>
        </p:nvSpPr>
        <p:spPr>
          <a:xfrm>
            <a:off x="548640" y="3429000"/>
            <a:ext cx="365760" cy="365760"/>
          </a:xfrm>
          <a:prstGeom prst="rect">
            <a:avLst/>
          </a:prstGeom>
          <a:noFill/>
          <a:ln/>
        </p:spPr>
        <p:txBody>
          <a:bodyPr wrap="square" rtlCol="0" anchor="ctr"/>
          <a:lstStyle/>
          <a:p>
            <a:pPr algn="ctr" indent="0" marL="0">
              <a:buNone/>
            </a:pPr>
            <a:r>
              <a:rPr lang="en-US" sz="1600" b="1" dirty="0">
                <a:solidFill>
                  <a:srgbClr val="0D2623"/>
                </a:solidFill>
                <a:latin typeface="Noto Sans JP" pitchFamily="34" charset="0"/>
                <a:ea typeface="Noto Sans JP" pitchFamily="34" charset="-122"/>
                <a:cs typeface="Noto Sans JP" pitchFamily="34" charset="-120"/>
              </a:rPr>
              <a:t>2</a:t>
            </a:r>
            <a:endParaRPr lang="en-US" sz="1600" dirty="0"/>
          </a:p>
        </p:txBody>
      </p:sp>
      <p:sp>
        <p:nvSpPr>
          <p:cNvPr id="12" name="Text 10"/>
          <p:cNvSpPr/>
          <p:nvPr/>
        </p:nvSpPr>
        <p:spPr>
          <a:xfrm>
            <a:off x="1097280" y="3429000"/>
            <a:ext cx="7498080" cy="36576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PDCA型の計画体制: 目標・期間・評価を必須化し施策の継続的な改善を制度化</a:t>
            </a:r>
            <a:endParaRPr lang="en-US" sz="1600" dirty="0"/>
          </a:p>
        </p:txBody>
      </p:sp>
      <p:sp>
        <p:nvSpPr>
          <p:cNvPr id="13" name="Shape 11"/>
          <p:cNvSpPr/>
          <p:nvPr/>
        </p:nvSpPr>
        <p:spPr>
          <a:xfrm>
            <a:off x="548640" y="3931920"/>
            <a:ext cx="365760" cy="365760"/>
          </a:xfrm>
          <a:prstGeom prst="rect">
            <a:avLst>
              <a:gd name="adj" fmla="val 12500"/>
            </a:avLst>
          </a:prstGeom>
          <a:solidFill>
            <a:srgbClr val="E8DE9F"/>
          </a:solidFill>
          <a:ln/>
        </p:spPr>
      </p:sp>
      <p:sp>
        <p:nvSpPr>
          <p:cNvPr id="14" name="Text 12"/>
          <p:cNvSpPr/>
          <p:nvPr/>
        </p:nvSpPr>
        <p:spPr>
          <a:xfrm>
            <a:off x="548640" y="3931920"/>
            <a:ext cx="365760" cy="365760"/>
          </a:xfrm>
          <a:prstGeom prst="rect">
            <a:avLst/>
          </a:prstGeom>
          <a:noFill/>
          <a:ln/>
        </p:spPr>
        <p:txBody>
          <a:bodyPr wrap="square" rtlCol="0" anchor="ctr"/>
          <a:lstStyle/>
          <a:p>
            <a:pPr algn="ctr" indent="0" marL="0">
              <a:buNone/>
            </a:pPr>
            <a:r>
              <a:rPr lang="en-US" sz="1600" b="1" dirty="0">
                <a:solidFill>
                  <a:srgbClr val="0D2623"/>
                </a:solidFill>
                <a:latin typeface="Noto Sans JP" pitchFamily="34" charset="0"/>
                <a:ea typeface="Noto Sans JP" pitchFamily="34" charset="-122"/>
                <a:cs typeface="Noto Sans JP" pitchFamily="34" charset="-120"/>
              </a:rPr>
              <a:t>3</a:t>
            </a:r>
            <a:endParaRPr lang="en-US" sz="1600" dirty="0"/>
          </a:p>
        </p:txBody>
      </p:sp>
      <p:sp>
        <p:nvSpPr>
          <p:cNvPr id="15" name="Text 13"/>
          <p:cNvSpPr/>
          <p:nvPr/>
        </p:nvSpPr>
        <p:spPr>
          <a:xfrm>
            <a:off x="1097280" y="3931920"/>
            <a:ext cx="7498080" cy="36576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各分野の配慮規定の拡充: 交通・産業・医療・防災を横断的にアップデート</a:t>
            </a:r>
            <a:endParaRPr lang="en-US" sz="1600" dirty="0"/>
          </a:p>
        </p:txBody>
      </p:sp>
      <p:sp>
        <p:nvSpPr>
          <p:cNvPr id="16" name="Shape 14"/>
          <p:cNvSpPr/>
          <p:nvPr/>
        </p:nvSpPr>
        <p:spPr>
          <a:xfrm>
            <a:off x="548640" y="4434840"/>
            <a:ext cx="365760" cy="365760"/>
          </a:xfrm>
          <a:prstGeom prst="rect">
            <a:avLst>
              <a:gd name="adj" fmla="val 12500"/>
            </a:avLst>
          </a:prstGeom>
          <a:solidFill>
            <a:srgbClr val="E8DE9F"/>
          </a:solidFill>
          <a:ln/>
        </p:spPr>
      </p:sp>
      <p:sp>
        <p:nvSpPr>
          <p:cNvPr id="17" name="Text 15"/>
          <p:cNvSpPr/>
          <p:nvPr/>
        </p:nvSpPr>
        <p:spPr>
          <a:xfrm>
            <a:off x="548640" y="4434840"/>
            <a:ext cx="365760" cy="365760"/>
          </a:xfrm>
          <a:prstGeom prst="rect">
            <a:avLst/>
          </a:prstGeom>
          <a:noFill/>
          <a:ln/>
        </p:spPr>
        <p:txBody>
          <a:bodyPr wrap="square" rtlCol="0" anchor="ctr"/>
          <a:lstStyle/>
          <a:p>
            <a:pPr algn="ctr" indent="0" marL="0">
              <a:buNone/>
            </a:pPr>
            <a:r>
              <a:rPr lang="en-US" sz="1600" b="1" dirty="0">
                <a:solidFill>
                  <a:srgbClr val="0D2623"/>
                </a:solidFill>
                <a:latin typeface="Noto Sans JP" pitchFamily="34" charset="0"/>
                <a:ea typeface="Noto Sans JP" pitchFamily="34" charset="-122"/>
                <a:cs typeface="Noto Sans JP" pitchFamily="34" charset="-120"/>
              </a:rPr>
              <a:t>4</a:t>
            </a:r>
            <a:endParaRPr lang="en-US" sz="1600" dirty="0"/>
          </a:p>
        </p:txBody>
      </p:sp>
      <p:sp>
        <p:nvSpPr>
          <p:cNvPr id="18" name="Text 16"/>
          <p:cNvSpPr/>
          <p:nvPr/>
        </p:nvSpPr>
        <p:spPr>
          <a:xfrm>
            <a:off x="1097280" y="4434840"/>
            <a:ext cx="7498080" cy="365760"/>
          </a:xfrm>
          <a:prstGeom prst="rect">
            <a:avLst/>
          </a:prstGeom>
          <a:noFill/>
          <a:ln/>
        </p:spPr>
        <p:txBody>
          <a:bodyPr wrap="square" rtlCol="0" anchor="ctr"/>
          <a:lstStyle/>
          <a:p>
            <a:pPr indent="0" marL="0">
              <a:buNone/>
            </a:pPr>
            <a:r>
              <a:rPr lang="en-US" sz="1600" dirty="0">
                <a:solidFill>
                  <a:srgbClr val="434343"/>
                </a:solidFill>
                <a:latin typeface="Noto Sans JP" pitchFamily="34" charset="0"/>
                <a:ea typeface="Noto Sans JP" pitchFamily="34" charset="-122"/>
                <a:cs typeface="Noto Sans JP" pitchFamily="34" charset="-120"/>
              </a:rPr>
              <a:t>今後の注目点: 23地域（194市町村）での具体的な振興計画の策定と実行の推進</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半島振興法の改正 〜能登半島地震の教訓を生かした防災・地方創生の新展開〜</dc:title>
  <dc:subject>PptxGenJS Presentation</dc:subject>
  <dc:creator>Claude Code</dc:creator>
  <cp:lastModifiedBy>Claude Code</cp:lastModifiedBy>
  <cp:revision>1</cp:revision>
  <dcterms:created xsi:type="dcterms:W3CDTF">2026-02-14T07:53:13Z</dcterms:created>
  <dcterms:modified xsi:type="dcterms:W3CDTF">2026-02-14T07:53:13Z</dcterms:modified>
</cp:coreProperties>
</file>